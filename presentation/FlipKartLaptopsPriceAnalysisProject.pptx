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12192000"/>
  <p:notesSz cx="6858000" cy="9144000"/>
  <p:embeddedFontLst>
    <p:embeddedFont>
      <p:font typeface="Libre Baskerville"/>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980564A-8B44-4F62-9D78-B8790BB7284B}">
  <a:tblStyle styleId="{6980564A-8B44-4F62-9D78-B8790BB7284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ibreBaskerville-bold.fntdata"/><Relationship Id="rId25" Type="http://schemas.openxmlformats.org/officeDocument/2006/relationships/font" Target="fonts/LibreBaskerville-regular.fntdata"/><Relationship Id="rId28" Type="http://schemas.openxmlformats.org/officeDocument/2006/relationships/font" Target="fonts/LibreBaskerville-boldItalic.fntdata"/><Relationship Id="rId27" Type="http://schemas.openxmlformats.org/officeDocument/2006/relationships/font" Target="fonts/LibreBaskerville-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96" name="Google Shape;9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ef5529fce0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g3ef5529fce0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ef5529fce0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g3ef5529fce0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ef77d5a681_0_14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g3ef77d5a681_0_1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ef5529fce0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g3ef5529fce0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ef77d5a681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g3ef77d5a681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ef77d5a681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g3ef77d5a681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ef77d5a681_0_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g3ef77d5a681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ef77d5a681_0_4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g3ef77d5a681_0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ef77d5a681_0_5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g3ef77d5a681_0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ef77d5a681_0_6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g3ef77d5a681_0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ef77d5a681_0_7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g3ef77d5a681_0_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ef77d5a681_0_9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g3ef77d5a681_0_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ef77d5a681_0_10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g3ef77d5a681_0_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ef77d5a681_0_1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g3ef77d5a681_0_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ef77d5a681_0_1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g3ef77d5a681_0_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ef77d5a681_0_1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g3ef77d5a681_0_1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ef77d5a681_0_15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g3ef77d5a681_0_1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247" name="Google Shape;24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 name="Shape 15"/>
        <p:cNvGrpSpPr/>
        <p:nvPr/>
      </p:nvGrpSpPr>
      <p:grpSpPr>
        <a:xfrm>
          <a:off x="0" y="0"/>
          <a:ext cx="0" cy="0"/>
          <a:chOff x="0" y="0"/>
          <a:chExt cx="0" cy="0"/>
        </a:xfrm>
      </p:grpSpPr>
      <p:sp>
        <p:nvSpPr>
          <p:cNvPr id="16" name="Google Shape;16;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pic>
        <p:nvPicPr>
          <p:cNvPr id="20" name="Google Shape;20;p2"/>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 name="Google Shape;24;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pic>
        <p:nvPicPr>
          <p:cNvPr id="27" name="Google Shape;27;p3"/>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8" name="Shape 28"/>
        <p:cNvGrpSpPr/>
        <p:nvPr/>
      </p:nvGrpSpPr>
      <p:grpSpPr>
        <a:xfrm>
          <a:off x="0" y="0"/>
          <a:ext cx="0" cy="0"/>
          <a:chOff x="0" y="0"/>
          <a:chExt cx="0" cy="0"/>
        </a:xfrm>
      </p:grpSpPr>
      <p:sp>
        <p:nvSpPr>
          <p:cNvPr id="29" name="Google Shape;29;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pic>
        <p:nvPicPr>
          <p:cNvPr id="32" name="Google Shape;32;p4"/>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3" name="Shape 33"/>
        <p:cNvGrpSpPr/>
        <p:nvPr/>
      </p:nvGrpSpPr>
      <p:grpSpPr>
        <a:xfrm>
          <a:off x="0" y="0"/>
          <a:ext cx="0" cy="0"/>
          <a:chOff x="0" y="0"/>
          <a:chExt cx="0" cy="0"/>
        </a:xfrm>
      </p:grpSpPr>
      <p:sp>
        <p:nvSpPr>
          <p:cNvPr id="34" name="Google Shape;34;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pic>
        <p:nvPicPr>
          <p:cNvPr id="39" name="Google Shape;39;p5"/>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0" name="Shape 40"/>
        <p:cNvGrpSpPr/>
        <p:nvPr/>
      </p:nvGrpSpPr>
      <p:grpSpPr>
        <a:xfrm>
          <a:off x="0" y="0"/>
          <a:ext cx="0" cy="0"/>
          <a:chOff x="0" y="0"/>
          <a:chExt cx="0" cy="0"/>
        </a:xfrm>
      </p:grpSpPr>
      <p:sp>
        <p:nvSpPr>
          <p:cNvPr id="41" name="Google Shape;41;p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3" name="Google Shape;43;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pic>
        <p:nvPicPr>
          <p:cNvPr id="46" name="Google Shape;46;p6"/>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7" name="Shape 47"/>
        <p:cNvGrpSpPr/>
        <p:nvPr/>
      </p:nvGrpSpPr>
      <p:grpSpPr>
        <a:xfrm>
          <a:off x="0" y="0"/>
          <a:ext cx="0" cy="0"/>
          <a:chOff x="0" y="0"/>
          <a:chExt cx="0" cy="0"/>
        </a:xfrm>
      </p:grpSpPr>
      <p:sp>
        <p:nvSpPr>
          <p:cNvPr id="48" name="Google Shape;48;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pic>
        <p:nvPicPr>
          <p:cNvPr id="54" name="Google Shape;54;p7"/>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5" name="Shape 55"/>
        <p:cNvGrpSpPr/>
        <p:nvPr/>
      </p:nvGrpSpPr>
      <p:grpSpPr>
        <a:xfrm>
          <a:off x="0" y="0"/>
          <a:ext cx="0" cy="0"/>
          <a:chOff x="0" y="0"/>
          <a:chExt cx="0" cy="0"/>
        </a:xfrm>
      </p:grpSpPr>
      <p:sp>
        <p:nvSpPr>
          <p:cNvPr id="56" name="Google Shape;56;p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8" name="Google Shape;58;p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0" name="Google Shape;60;p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 name="Google Shape;6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pic>
        <p:nvPicPr>
          <p:cNvPr id="64" name="Google Shape;64;p8"/>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id="66" name="Google Shape;66;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8" name="Google Shape;68;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pic>
        <p:nvPicPr>
          <p:cNvPr id="72" name="Google Shape;72;p9"/>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3" name="Shape 73"/>
        <p:cNvGrpSpPr/>
        <p:nvPr/>
      </p:nvGrpSpPr>
      <p:grpSpPr>
        <a:xfrm>
          <a:off x="0" y="0"/>
          <a:ext cx="0" cy="0"/>
          <a:chOff x="0" y="0"/>
          <a:chExt cx="0" cy="0"/>
        </a:xfrm>
      </p:grpSpPr>
      <p:sp>
        <p:nvSpPr>
          <p:cNvPr id="74" name="Google Shape;74;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10"/>
          <p:cNvSpPr/>
          <p:nvPr>
            <p:ph idx="2" type="pic"/>
          </p:nvPr>
        </p:nvSpPr>
        <p:spPr>
          <a:xfrm>
            <a:off x="5183188" y="987425"/>
            <a:ext cx="6172200" cy="4873625"/>
          </a:xfrm>
          <a:prstGeom prst="rect">
            <a:avLst/>
          </a:prstGeom>
          <a:noFill/>
          <a:ln>
            <a:noFill/>
          </a:ln>
        </p:spPr>
      </p:sp>
      <p:sp>
        <p:nvSpPr>
          <p:cNvPr id="76" name="Google Shape;76;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7" name="Google Shape;77;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pic>
        <p:nvPicPr>
          <p:cNvPr id="80" name="Google Shape;80;p10"/>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1" name="Shape 81"/>
        <p:cNvGrpSpPr/>
        <p:nvPr/>
      </p:nvGrpSpPr>
      <p:grpSpPr>
        <a:xfrm>
          <a:off x="0" y="0"/>
          <a:ext cx="0" cy="0"/>
          <a:chOff x="0" y="0"/>
          <a:chExt cx="0" cy="0"/>
        </a:xfrm>
      </p:grpSpPr>
      <p:sp>
        <p:nvSpPr>
          <p:cNvPr id="82" name="Google Shape;82;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pic>
        <p:nvPicPr>
          <p:cNvPr id="87" name="Google Shape;87;p11"/>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8" name="Shape 88"/>
        <p:cNvGrpSpPr/>
        <p:nvPr/>
      </p:nvGrpSpPr>
      <p:grpSpPr>
        <a:xfrm>
          <a:off x="0" y="0"/>
          <a:ext cx="0" cy="0"/>
          <a:chOff x="0" y="0"/>
          <a:chExt cx="0" cy="0"/>
        </a:xfrm>
      </p:grpSpPr>
      <p:sp>
        <p:nvSpPr>
          <p:cNvPr id="89" name="Google Shape;8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www.linkedin.com/in/suryaprabha-rebba-6558ba334"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id="98" name="Google Shape;98;p13"/>
          <p:cNvPicPr preferRelativeResize="0"/>
          <p:nvPr/>
        </p:nvPicPr>
        <p:blipFill rotWithShape="1">
          <a:blip r:embed="rId3">
            <a:alphaModFix/>
          </a:blip>
          <a:srcRect b="0" l="0" r="0" t="0"/>
          <a:stretch/>
        </p:blipFill>
        <p:spPr>
          <a:xfrm>
            <a:off x="592" y="0"/>
            <a:ext cx="12190815" cy="6694098"/>
          </a:xfrm>
          <a:prstGeom prst="rect">
            <a:avLst/>
          </a:prstGeom>
          <a:noFill/>
          <a:ln>
            <a:noFill/>
          </a:ln>
        </p:spPr>
      </p:pic>
      <p:sp>
        <p:nvSpPr>
          <p:cNvPr id="99" name="Google Shape;99;p13"/>
          <p:cNvSpPr txBox="1"/>
          <p:nvPr/>
        </p:nvSpPr>
        <p:spPr>
          <a:xfrm>
            <a:off x="2472904" y="3717986"/>
            <a:ext cx="7246200" cy="1277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2700">
                <a:solidFill>
                  <a:schemeClr val="dk1"/>
                </a:solidFill>
                <a:latin typeface="Calibri"/>
                <a:ea typeface="Calibri"/>
                <a:cs typeface="Calibri"/>
                <a:sym typeface="Calibri"/>
              </a:rPr>
              <a:t>Analysis on Prices of Laptops Available on Flipkart</a:t>
            </a:r>
            <a:r>
              <a:rPr lang="en-IN" sz="2700">
                <a:solidFill>
                  <a:schemeClr val="dk1"/>
                </a:solidFill>
                <a:latin typeface="Calibri"/>
                <a:ea typeface="Calibri"/>
                <a:cs typeface="Calibri"/>
                <a:sym typeface="Calibri"/>
              </a:rPr>
              <a:t> </a:t>
            </a:r>
            <a:br>
              <a:rPr lang="en-IN" sz="2700">
                <a:solidFill>
                  <a:schemeClr val="dk1"/>
                </a:solidFill>
                <a:latin typeface="Calibri"/>
                <a:ea typeface="Calibri"/>
                <a:cs typeface="Calibri"/>
                <a:sym typeface="Calibri"/>
              </a:rPr>
            </a:br>
            <a:endParaRPr sz="23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4"/>
          <p:cNvSpPr txBox="1"/>
          <p:nvPr/>
        </p:nvSpPr>
        <p:spPr>
          <a:xfrm>
            <a:off x="475625" y="1059100"/>
            <a:ext cx="11143200" cy="56217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400"/>
              </a:spcBef>
              <a:spcAft>
                <a:spcPts val="0"/>
              </a:spcAft>
              <a:buClr>
                <a:schemeClr val="dk1"/>
              </a:buClr>
              <a:buSzPts val="1100"/>
              <a:buFont typeface="Arial"/>
              <a:buNone/>
            </a:pPr>
            <a:r>
              <a:rPr b="1" lang="en-IN" sz="1700">
                <a:solidFill>
                  <a:srgbClr val="FF0000"/>
                </a:solidFill>
              </a:rPr>
              <a:t>Background</a:t>
            </a:r>
            <a:endParaRPr b="1" sz="1700">
              <a:solidFill>
                <a:srgbClr val="FF0000"/>
              </a:solidFill>
            </a:endParaRPr>
          </a:p>
          <a:p>
            <a:pPr indent="-311150" lvl="0" marL="457200" rtl="0" algn="l">
              <a:lnSpc>
                <a:spcPct val="115000"/>
              </a:lnSpc>
              <a:spcBef>
                <a:spcPts val="1200"/>
              </a:spcBef>
              <a:spcAft>
                <a:spcPts val="0"/>
              </a:spcAft>
              <a:buClr>
                <a:schemeClr val="dk1"/>
              </a:buClr>
              <a:buSzPts val="1300"/>
              <a:buChar char="●"/>
            </a:pPr>
            <a:r>
              <a:rPr lang="en-IN" sz="1300">
                <a:solidFill>
                  <a:schemeClr val="dk1"/>
                </a:solidFill>
              </a:rPr>
              <a:t>Bachelor of Technology (</a:t>
            </a:r>
            <a:r>
              <a:rPr b="1" lang="en-IN" sz="1300">
                <a:solidFill>
                  <a:schemeClr val="dk1"/>
                </a:solidFill>
              </a:rPr>
              <a:t>B.Tech</a:t>
            </a:r>
            <a:r>
              <a:rPr lang="en-IN" sz="1300">
                <a:solidFill>
                  <a:schemeClr val="dk1"/>
                </a:solidFill>
              </a:rPr>
              <a:t>) in </a:t>
            </a:r>
            <a:r>
              <a:rPr b="1" lang="en-IN" sz="1300">
                <a:solidFill>
                  <a:schemeClr val="dk1"/>
                </a:solidFill>
              </a:rPr>
              <a:t>Computer Science Engineering</a:t>
            </a:r>
            <a:r>
              <a:rPr lang="en-IN" sz="1300">
                <a:solidFill>
                  <a:schemeClr val="dk1"/>
                </a:solidFill>
              </a:rPr>
              <a:t>.</a:t>
            </a:r>
            <a:endParaRPr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IN" sz="1700">
                <a:solidFill>
                  <a:srgbClr val="FF0000"/>
                </a:solidFill>
              </a:rPr>
              <a:t>Why I Want to Learn Data Science</a:t>
            </a:r>
            <a:endParaRPr b="1" sz="1700">
              <a:solidFill>
                <a:srgbClr val="FF0000"/>
              </a:solidFill>
            </a:endParaRPr>
          </a:p>
          <a:p>
            <a:pPr indent="-311150" lvl="0" marL="457200" rtl="0" algn="l">
              <a:lnSpc>
                <a:spcPct val="115000"/>
              </a:lnSpc>
              <a:spcBef>
                <a:spcPts val="1200"/>
              </a:spcBef>
              <a:spcAft>
                <a:spcPts val="0"/>
              </a:spcAft>
              <a:buClr>
                <a:schemeClr val="dk1"/>
              </a:buClr>
              <a:buSzPts val="1300"/>
              <a:buChar char="●"/>
            </a:pPr>
            <a:r>
              <a:rPr lang="en-IN" sz="1300">
                <a:solidFill>
                  <a:schemeClr val="dk1"/>
                </a:solidFill>
              </a:rPr>
              <a:t>To strengthen my skills in </a:t>
            </a:r>
            <a:r>
              <a:rPr b="1" lang="en-IN" sz="1300">
                <a:solidFill>
                  <a:schemeClr val="dk1"/>
                </a:solidFill>
              </a:rPr>
              <a:t>data analytics</a:t>
            </a:r>
            <a:r>
              <a:rPr lang="en-IN" sz="1300">
                <a:solidFill>
                  <a:schemeClr val="dk1"/>
                </a:solidFill>
              </a:rPr>
              <a:t>, </a:t>
            </a:r>
            <a:r>
              <a:rPr b="1" lang="en-IN" sz="1300">
                <a:solidFill>
                  <a:schemeClr val="dk1"/>
                </a:solidFill>
              </a:rPr>
              <a:t>machine learning</a:t>
            </a:r>
            <a:r>
              <a:rPr lang="en-IN" sz="1300">
                <a:solidFill>
                  <a:schemeClr val="dk1"/>
                </a:solidFill>
              </a:rPr>
              <a:t>, and </a:t>
            </a:r>
            <a:r>
              <a:rPr b="1" lang="en-IN" sz="1300">
                <a:solidFill>
                  <a:schemeClr val="dk1"/>
                </a:solidFill>
              </a:rPr>
              <a:t>artificial intelligence</a:t>
            </a:r>
            <a:r>
              <a:rPr lang="en-IN" sz="1300">
                <a:solidFill>
                  <a:schemeClr val="dk1"/>
                </a:solidFill>
              </a:rPr>
              <a:t>.</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IN" sz="1300">
                <a:solidFill>
                  <a:schemeClr val="dk1"/>
                </a:solidFill>
              </a:rPr>
              <a:t>To gain expertise in data-driven decision-making and predictive modeling.</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IN" sz="1300">
                <a:solidFill>
                  <a:schemeClr val="dk1"/>
                </a:solidFill>
              </a:rPr>
              <a:t>To transition into the field of </a:t>
            </a:r>
            <a:r>
              <a:rPr b="1" lang="en-IN" sz="1300">
                <a:solidFill>
                  <a:schemeClr val="dk1"/>
                </a:solidFill>
              </a:rPr>
              <a:t>Generative AI Development</a:t>
            </a:r>
            <a:r>
              <a:rPr lang="en-IN" sz="1300">
                <a:solidFill>
                  <a:schemeClr val="dk1"/>
                </a:solidFill>
              </a:rPr>
              <a:t> by combining my software development experience with advanced AI and data science knowledge.</a:t>
            </a:r>
            <a:endParaRPr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IN" sz="1700">
                <a:solidFill>
                  <a:srgbClr val="FF0000"/>
                </a:solidFill>
              </a:rPr>
              <a:t>Work Experience</a:t>
            </a:r>
            <a:endParaRPr b="1" sz="1700">
              <a:solidFill>
                <a:srgbClr val="FF0000"/>
              </a:solidFill>
            </a:endParaRPr>
          </a:p>
          <a:p>
            <a:pPr indent="-311150" lvl="0" marL="457200" rtl="0" algn="l">
              <a:lnSpc>
                <a:spcPct val="115000"/>
              </a:lnSpc>
              <a:spcBef>
                <a:spcPts val="1200"/>
              </a:spcBef>
              <a:spcAft>
                <a:spcPts val="0"/>
              </a:spcAft>
              <a:buClr>
                <a:schemeClr val="dk1"/>
              </a:buClr>
              <a:buSzPts val="1300"/>
              <a:buChar char="•"/>
            </a:pPr>
            <a:r>
              <a:rPr lang="en-IN" sz="1300">
                <a:solidFill>
                  <a:schemeClr val="dk1"/>
                </a:solidFill>
              </a:rPr>
              <a:t>Over </a:t>
            </a:r>
            <a:r>
              <a:rPr b="1" lang="en-IN" sz="1300">
                <a:solidFill>
                  <a:schemeClr val="dk1"/>
                </a:solidFill>
              </a:rPr>
              <a:t>10 years of experience</a:t>
            </a:r>
            <a:r>
              <a:rPr lang="en-IN" sz="1300">
                <a:solidFill>
                  <a:schemeClr val="dk1"/>
                </a:solidFill>
              </a:rPr>
              <a:t> as a Software Professional specializing in backend development.</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IN" sz="1300">
                <a:solidFill>
                  <a:schemeClr val="dk1"/>
                </a:solidFill>
              </a:rPr>
              <a:t>Experienced in designing and developing scalable web applications and APIs.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IN" sz="1300">
                <a:solidFill>
                  <a:schemeClr val="dk1"/>
                </a:solidFill>
              </a:rPr>
              <a:t>Proficient in technologies such as:</a:t>
            </a:r>
            <a:endParaRPr sz="1300">
              <a:solidFill>
                <a:schemeClr val="dk1"/>
              </a:solidFill>
            </a:endParaRPr>
          </a:p>
          <a:p>
            <a:pPr indent="-311150" lvl="1" marL="914400" rtl="0" algn="l">
              <a:lnSpc>
                <a:spcPct val="115000"/>
              </a:lnSpc>
              <a:spcBef>
                <a:spcPts val="0"/>
              </a:spcBef>
              <a:spcAft>
                <a:spcPts val="0"/>
              </a:spcAft>
              <a:buClr>
                <a:schemeClr val="dk1"/>
              </a:buClr>
              <a:buSzPts val="1300"/>
              <a:buChar char="○"/>
            </a:pPr>
            <a:r>
              <a:rPr b="1" lang="en-IN" sz="1300">
                <a:solidFill>
                  <a:schemeClr val="dk1"/>
                </a:solidFill>
              </a:rPr>
              <a:t>PHP</a:t>
            </a:r>
            <a:endParaRPr b="1" sz="1300">
              <a:solidFill>
                <a:schemeClr val="dk1"/>
              </a:solidFill>
            </a:endParaRPr>
          </a:p>
          <a:p>
            <a:pPr indent="-311150" lvl="1" marL="914400" rtl="0" algn="l">
              <a:lnSpc>
                <a:spcPct val="115000"/>
              </a:lnSpc>
              <a:spcBef>
                <a:spcPts val="0"/>
              </a:spcBef>
              <a:spcAft>
                <a:spcPts val="0"/>
              </a:spcAft>
              <a:buClr>
                <a:schemeClr val="dk1"/>
              </a:buClr>
              <a:buSzPts val="1300"/>
              <a:buChar char="○"/>
            </a:pPr>
            <a:r>
              <a:rPr b="1" lang="en-IN" sz="1300">
                <a:solidFill>
                  <a:schemeClr val="dk1"/>
                </a:solidFill>
              </a:rPr>
              <a:t>Node.js</a:t>
            </a:r>
            <a:endParaRPr b="1" sz="1300">
              <a:solidFill>
                <a:schemeClr val="dk1"/>
              </a:solidFill>
            </a:endParaRPr>
          </a:p>
          <a:p>
            <a:pPr indent="-311150" lvl="1" marL="914400" rtl="0" algn="l">
              <a:lnSpc>
                <a:spcPct val="115000"/>
              </a:lnSpc>
              <a:spcBef>
                <a:spcPts val="0"/>
              </a:spcBef>
              <a:spcAft>
                <a:spcPts val="0"/>
              </a:spcAft>
              <a:buClr>
                <a:schemeClr val="dk1"/>
              </a:buClr>
              <a:buSzPts val="1300"/>
              <a:buChar char="○"/>
            </a:pPr>
            <a:r>
              <a:rPr b="1" lang="en-IN" sz="1300">
                <a:solidFill>
                  <a:schemeClr val="dk1"/>
                </a:solidFill>
              </a:rPr>
              <a:t>MongoDB</a:t>
            </a:r>
            <a:endParaRPr b="1" sz="1300">
              <a:solidFill>
                <a:schemeClr val="dk1"/>
              </a:solidFill>
            </a:endParaRPr>
          </a:p>
          <a:p>
            <a:pPr indent="-311150" lvl="1" marL="914400" rtl="0" algn="l">
              <a:lnSpc>
                <a:spcPct val="115000"/>
              </a:lnSpc>
              <a:spcBef>
                <a:spcPts val="0"/>
              </a:spcBef>
              <a:spcAft>
                <a:spcPts val="0"/>
              </a:spcAft>
              <a:buClr>
                <a:schemeClr val="dk1"/>
              </a:buClr>
              <a:buSzPts val="1300"/>
              <a:buChar char="○"/>
            </a:pPr>
            <a:r>
              <a:rPr b="1" lang="en-IN" sz="1300">
                <a:solidFill>
                  <a:schemeClr val="dk1"/>
                </a:solidFill>
              </a:rPr>
              <a:t>MySQL</a:t>
            </a:r>
            <a:endParaRPr b="1" sz="1300">
              <a:solidFill>
                <a:schemeClr val="dk1"/>
              </a:solidFill>
            </a:endParaRPr>
          </a:p>
          <a:p>
            <a:pPr indent="-311150" lvl="1" marL="914400" rtl="0" algn="l">
              <a:lnSpc>
                <a:spcPct val="115000"/>
              </a:lnSpc>
              <a:spcBef>
                <a:spcPts val="0"/>
              </a:spcBef>
              <a:spcAft>
                <a:spcPts val="0"/>
              </a:spcAft>
              <a:buClr>
                <a:schemeClr val="dk1"/>
              </a:buClr>
              <a:buSzPts val="1300"/>
              <a:buChar char="○"/>
            </a:pPr>
            <a:r>
              <a:rPr b="1" lang="en-IN" sz="1300">
                <a:solidFill>
                  <a:schemeClr val="dk1"/>
                </a:solidFill>
              </a:rPr>
              <a:t>AngularJS</a:t>
            </a:r>
            <a:endParaRPr b="1" sz="1300">
              <a:solidFill>
                <a:schemeClr val="dk1"/>
              </a:solidFill>
            </a:endParaRPr>
          </a:p>
          <a:p>
            <a:pPr indent="-311150" lvl="1" marL="914400" rtl="0" algn="l">
              <a:lnSpc>
                <a:spcPct val="115000"/>
              </a:lnSpc>
              <a:spcBef>
                <a:spcPts val="0"/>
              </a:spcBef>
              <a:spcAft>
                <a:spcPts val="0"/>
              </a:spcAft>
              <a:buClr>
                <a:schemeClr val="dk1"/>
              </a:buClr>
              <a:buSzPts val="1300"/>
              <a:buChar char="○"/>
            </a:pPr>
            <a:r>
              <a:rPr b="1" lang="en-IN" sz="1300">
                <a:solidFill>
                  <a:schemeClr val="dk1"/>
                </a:solidFill>
              </a:rPr>
              <a:t>Docker</a:t>
            </a:r>
            <a:endParaRPr b="1"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IN" sz="1300">
                <a:solidFill>
                  <a:schemeClr val="dk1"/>
                </a:solidFill>
              </a:rPr>
              <a:t>Strong experience in database design, API development, and backend system architecture.</a:t>
            </a:r>
            <a:endParaRPr sz="1300">
              <a:solidFill>
                <a:schemeClr val="dk1"/>
              </a:solidFill>
            </a:endParaRPr>
          </a:p>
          <a:p>
            <a:pPr indent="0" lvl="0" marL="0" rtl="0" algn="l">
              <a:lnSpc>
                <a:spcPct val="115000"/>
              </a:lnSpc>
              <a:spcBef>
                <a:spcPts val="1200"/>
              </a:spcBef>
              <a:spcAft>
                <a:spcPts val="1200"/>
              </a:spcAft>
              <a:buNone/>
            </a:pPr>
            <a:r>
              <a:rPr b="1" lang="en-IN" sz="1300">
                <a:solidFill>
                  <a:srgbClr val="FF0000"/>
                </a:solidFill>
              </a:rPr>
              <a:t>LinkedIn URL</a:t>
            </a:r>
            <a:r>
              <a:rPr lang="en-IN" sz="1300">
                <a:solidFill>
                  <a:schemeClr val="dk1"/>
                </a:solidFill>
              </a:rPr>
              <a:t> : </a:t>
            </a:r>
            <a:r>
              <a:rPr lang="en-IN" sz="1100" u="sng">
                <a:solidFill>
                  <a:srgbClr val="1155CC"/>
                </a:solidFill>
                <a:highlight>
                  <a:srgbClr val="FFFFFF"/>
                </a:highlight>
                <a:hlinkClick r:id="rId3">
                  <a:extLst>
                    <a:ext uri="{A12FA001-AC4F-418D-AE19-62706E023703}">
                      <ahyp:hlinkClr val="tx"/>
                    </a:ext>
                  </a:extLst>
                </a:hlinkClick>
              </a:rPr>
              <a:t>www.linkedin.com/in/suryaprabha-rebba-6558ba334</a:t>
            </a:r>
            <a:r>
              <a:rPr lang="en-IN" sz="1100">
                <a:solidFill>
                  <a:schemeClr val="dk1"/>
                </a:solidFill>
              </a:rPr>
              <a:t> </a:t>
            </a:r>
            <a:endParaRPr sz="1300">
              <a:solidFill>
                <a:schemeClr val="dk1"/>
              </a:solidFill>
            </a:endParaRPr>
          </a:p>
        </p:txBody>
      </p:sp>
      <p:sp>
        <p:nvSpPr>
          <p:cNvPr id="105" name="Google Shape;105;p14"/>
          <p:cNvSpPr txBox="1"/>
          <p:nvPr/>
        </p:nvSpPr>
        <p:spPr>
          <a:xfrm>
            <a:off x="427656" y="416554"/>
            <a:ext cx="6099600" cy="47400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FF0000"/>
              </a:buClr>
              <a:buSzPts val="3200"/>
              <a:buFont typeface="Lato Black"/>
              <a:buNone/>
            </a:pPr>
            <a:r>
              <a:rPr b="1" i="0" lang="en-IN" sz="3100" u="none" cap="none" strike="noStrike">
                <a:solidFill>
                  <a:srgbClr val="FF0000"/>
                </a:solidFill>
              </a:rPr>
              <a:t>About me</a:t>
            </a:r>
            <a:endParaRPr i="0" sz="3100" u="none" cap="none" strike="noStrike">
              <a:solidFill>
                <a:srgbClr val="FF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05"/>
                                        </p:tgtEl>
                                        <p:attrNameLst>
                                          <p:attrName>style.visibility</p:attrName>
                                        </p:attrNameLst>
                                      </p:cBhvr>
                                      <p:to>
                                        <p:strVal val="visible"/>
                                      </p:to>
                                    </p:set>
                                    <p:animEffect filter="fade" transition="in">
                                      <p:cBhvr>
                                        <p:cTn dur="500"/>
                                        <p:tgtEl>
                                          <p:spTgt spid="1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5"/>
          <p:cNvSpPr txBox="1"/>
          <p:nvPr>
            <p:ph type="title"/>
          </p:nvPr>
        </p:nvSpPr>
        <p:spPr>
          <a:xfrm>
            <a:off x="239925" y="178250"/>
            <a:ext cx="10515600" cy="954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0000"/>
              </a:buClr>
              <a:buSzPts val="4400"/>
              <a:buFont typeface="Calibri"/>
              <a:buNone/>
            </a:pPr>
            <a:r>
              <a:rPr b="1" lang="en-IN" sz="3100">
                <a:solidFill>
                  <a:srgbClr val="FF0000"/>
                </a:solidFill>
                <a:latin typeface="Arial"/>
                <a:ea typeface="Arial"/>
                <a:cs typeface="Arial"/>
                <a:sym typeface="Arial"/>
              </a:rPr>
              <a:t>Agenda </a:t>
            </a:r>
            <a:endParaRPr b="1" sz="3100">
              <a:solidFill>
                <a:srgbClr val="FF0000"/>
              </a:solidFill>
              <a:latin typeface="Arial"/>
              <a:ea typeface="Arial"/>
              <a:cs typeface="Arial"/>
              <a:sym typeface="Arial"/>
            </a:endParaRPr>
          </a:p>
        </p:txBody>
      </p:sp>
      <p:sp>
        <p:nvSpPr>
          <p:cNvPr id="111" name="Google Shape;111;p15"/>
          <p:cNvSpPr txBox="1"/>
          <p:nvPr>
            <p:ph idx="1" type="body"/>
          </p:nvPr>
        </p:nvSpPr>
        <p:spPr>
          <a:xfrm>
            <a:off x="281875" y="1226875"/>
            <a:ext cx="11542200" cy="4907700"/>
          </a:xfrm>
          <a:prstGeom prst="rect">
            <a:avLst/>
          </a:prstGeom>
          <a:noFill/>
          <a:ln>
            <a:noFill/>
          </a:ln>
        </p:spPr>
        <p:txBody>
          <a:bodyPr anchorCtr="0" anchor="t" bIns="45700" lIns="91425" spcFirstLastPara="1" rIns="91425" wrap="square" tIns="45700">
            <a:normAutofit fontScale="25000" lnSpcReduction="20000"/>
          </a:bodyPr>
          <a:lstStyle/>
          <a:p>
            <a:pPr indent="0" lvl="0" marL="457200" rtl="0" algn="l">
              <a:lnSpc>
                <a:spcPct val="115000"/>
              </a:lnSpc>
              <a:spcBef>
                <a:spcPts val="1200"/>
              </a:spcBef>
              <a:spcAft>
                <a:spcPts val="0"/>
              </a:spcAft>
              <a:buNone/>
            </a:pPr>
            <a:r>
              <a:t/>
            </a:r>
            <a:endParaRPr sz="1900">
              <a:latin typeface="Arial"/>
              <a:ea typeface="Arial"/>
              <a:cs typeface="Arial"/>
              <a:sym typeface="Arial"/>
            </a:endParaRPr>
          </a:p>
          <a:p>
            <a:pPr indent="0" lvl="0" marL="0" rtl="0" algn="l">
              <a:lnSpc>
                <a:spcPct val="150000"/>
              </a:lnSpc>
              <a:spcBef>
                <a:spcPts val="1200"/>
              </a:spcBef>
              <a:spcAft>
                <a:spcPts val="0"/>
              </a:spcAft>
              <a:buNone/>
            </a:pPr>
            <a:r>
              <a:rPr b="1" lang="en-IN" sz="3250">
                <a:latin typeface="Arial"/>
                <a:ea typeface="Arial"/>
                <a:cs typeface="Arial"/>
                <a:sym typeface="Arial"/>
              </a:rPr>
              <a:t>   </a:t>
            </a:r>
            <a:r>
              <a:rPr b="1" lang="en-IN" sz="4850">
                <a:latin typeface="Arial"/>
                <a:ea typeface="Arial"/>
                <a:cs typeface="Arial"/>
                <a:sym typeface="Arial"/>
              </a:rPr>
              <a:t> 1. </a:t>
            </a:r>
            <a:r>
              <a:rPr b="1" lang="en-IN" sz="4800">
                <a:latin typeface="Arial"/>
                <a:ea typeface="Arial"/>
                <a:cs typeface="Arial"/>
                <a:sym typeface="Arial"/>
              </a:rPr>
              <a:t>Business Problem</a:t>
            </a:r>
            <a:endParaRPr b="1" sz="4800">
              <a:latin typeface="Arial"/>
              <a:ea typeface="Arial"/>
              <a:cs typeface="Arial"/>
              <a:sym typeface="Arial"/>
            </a:endParaRPr>
          </a:p>
          <a:p>
            <a:pPr indent="0" lvl="0" marL="0" rtl="0" algn="l">
              <a:lnSpc>
                <a:spcPct val="150000"/>
              </a:lnSpc>
              <a:spcBef>
                <a:spcPts val="1200"/>
              </a:spcBef>
              <a:spcAft>
                <a:spcPts val="0"/>
              </a:spcAft>
              <a:buNone/>
            </a:pPr>
            <a:r>
              <a:rPr b="1" lang="en-IN" sz="4800">
                <a:latin typeface="Arial"/>
                <a:ea typeface="Arial"/>
                <a:cs typeface="Arial"/>
                <a:sym typeface="Arial"/>
              </a:rPr>
              <a:t>   2. </a:t>
            </a:r>
            <a:r>
              <a:rPr b="1" lang="en-IN" sz="4800">
                <a:latin typeface="Arial"/>
                <a:ea typeface="Arial"/>
                <a:cs typeface="Arial"/>
                <a:sym typeface="Arial"/>
              </a:rPr>
              <a:t>Business Objectives</a:t>
            </a:r>
            <a:endParaRPr b="1" sz="4800">
              <a:latin typeface="Arial"/>
              <a:ea typeface="Arial"/>
              <a:cs typeface="Arial"/>
              <a:sym typeface="Arial"/>
            </a:endParaRPr>
          </a:p>
          <a:p>
            <a:pPr indent="0" lvl="0" marL="0" rtl="0" algn="l">
              <a:lnSpc>
                <a:spcPct val="150000"/>
              </a:lnSpc>
              <a:spcBef>
                <a:spcPts val="1200"/>
              </a:spcBef>
              <a:spcAft>
                <a:spcPts val="0"/>
              </a:spcAft>
              <a:buNone/>
            </a:pPr>
            <a:r>
              <a:rPr b="1" lang="en-IN" sz="4800">
                <a:latin typeface="Arial"/>
                <a:ea typeface="Arial"/>
                <a:cs typeface="Arial"/>
                <a:sym typeface="Arial"/>
              </a:rPr>
              <a:t>   3. Web Scraping Process</a:t>
            </a:r>
            <a:endParaRPr b="1" sz="4800">
              <a:latin typeface="Arial"/>
              <a:ea typeface="Arial"/>
              <a:cs typeface="Arial"/>
              <a:sym typeface="Arial"/>
            </a:endParaRPr>
          </a:p>
          <a:p>
            <a:pPr indent="0" lvl="0" marL="0" rtl="0" algn="l">
              <a:lnSpc>
                <a:spcPct val="150000"/>
              </a:lnSpc>
              <a:spcBef>
                <a:spcPts val="1200"/>
              </a:spcBef>
              <a:spcAft>
                <a:spcPts val="0"/>
              </a:spcAft>
              <a:buNone/>
            </a:pPr>
            <a:r>
              <a:rPr b="1" lang="en-IN" sz="4800">
                <a:latin typeface="Arial"/>
                <a:ea typeface="Arial"/>
                <a:cs typeface="Arial"/>
                <a:sym typeface="Arial"/>
              </a:rPr>
              <a:t>   4. DataSet Summary</a:t>
            </a:r>
            <a:endParaRPr b="1" sz="4800">
              <a:latin typeface="Arial"/>
              <a:ea typeface="Arial"/>
              <a:cs typeface="Arial"/>
              <a:sym typeface="Arial"/>
            </a:endParaRPr>
          </a:p>
          <a:p>
            <a:pPr indent="0" lvl="0" marL="0" rtl="0" algn="l">
              <a:lnSpc>
                <a:spcPct val="150000"/>
              </a:lnSpc>
              <a:spcBef>
                <a:spcPts val="1200"/>
              </a:spcBef>
              <a:spcAft>
                <a:spcPts val="0"/>
              </a:spcAft>
              <a:buNone/>
            </a:pPr>
            <a:r>
              <a:rPr b="1" lang="en-IN" sz="4800">
                <a:latin typeface="Arial"/>
                <a:ea typeface="Arial"/>
                <a:cs typeface="Arial"/>
                <a:sym typeface="Arial"/>
              </a:rPr>
              <a:t>   5. Exploratory Data Analysis</a:t>
            </a:r>
            <a:endParaRPr b="1" sz="4800">
              <a:latin typeface="Arial"/>
              <a:ea typeface="Arial"/>
              <a:cs typeface="Arial"/>
              <a:sym typeface="Arial"/>
            </a:endParaRPr>
          </a:p>
          <a:p>
            <a:pPr indent="0" lvl="0" marL="228600" rtl="0" algn="l">
              <a:lnSpc>
                <a:spcPct val="100000"/>
              </a:lnSpc>
              <a:spcBef>
                <a:spcPts val="1200"/>
              </a:spcBef>
              <a:spcAft>
                <a:spcPts val="0"/>
              </a:spcAft>
              <a:buNone/>
            </a:pPr>
            <a:r>
              <a:rPr b="1" lang="en-IN" sz="4800"/>
              <a:t>  </a:t>
            </a:r>
            <a:r>
              <a:rPr lang="en-IN" sz="4800"/>
              <a:t>i)</a:t>
            </a:r>
            <a:r>
              <a:rPr b="1" lang="en-IN" sz="4800"/>
              <a:t>  </a:t>
            </a:r>
            <a:r>
              <a:rPr lang="en-IN" sz="4800">
                <a:latin typeface="Arial"/>
                <a:ea typeface="Arial"/>
                <a:cs typeface="Arial"/>
                <a:sym typeface="Arial"/>
              </a:rPr>
              <a:t>Data Cleaning Steps</a:t>
            </a:r>
            <a:endParaRPr sz="4800">
              <a:latin typeface="Arial"/>
              <a:ea typeface="Arial"/>
              <a:cs typeface="Arial"/>
              <a:sym typeface="Arial"/>
            </a:endParaRPr>
          </a:p>
          <a:p>
            <a:pPr indent="0" lvl="0" marL="0" rtl="0" algn="l">
              <a:lnSpc>
                <a:spcPct val="100000"/>
              </a:lnSpc>
              <a:spcBef>
                <a:spcPts val="1400"/>
              </a:spcBef>
              <a:spcAft>
                <a:spcPts val="0"/>
              </a:spcAft>
              <a:buNone/>
            </a:pPr>
            <a:r>
              <a:rPr lang="en-IN" sz="4800">
                <a:latin typeface="Arial"/>
                <a:ea typeface="Arial"/>
                <a:cs typeface="Arial"/>
                <a:sym typeface="Arial"/>
              </a:rPr>
              <a:t>       ii) Data Manipulation Steps</a:t>
            </a:r>
            <a:endParaRPr sz="4800">
              <a:latin typeface="Arial"/>
              <a:ea typeface="Arial"/>
              <a:cs typeface="Arial"/>
              <a:sym typeface="Arial"/>
            </a:endParaRPr>
          </a:p>
          <a:p>
            <a:pPr indent="0" lvl="0" marL="0" rtl="0" algn="l">
              <a:lnSpc>
                <a:spcPct val="100000"/>
              </a:lnSpc>
              <a:spcBef>
                <a:spcPts val="1400"/>
              </a:spcBef>
              <a:spcAft>
                <a:spcPts val="0"/>
              </a:spcAft>
              <a:buNone/>
            </a:pPr>
            <a:r>
              <a:rPr lang="en-IN" sz="4800">
                <a:latin typeface="Arial"/>
                <a:ea typeface="Arial"/>
                <a:cs typeface="Arial"/>
                <a:sym typeface="Arial"/>
              </a:rPr>
              <a:t>       iii) Univariate Analysis Steps</a:t>
            </a:r>
            <a:endParaRPr sz="4800">
              <a:latin typeface="Arial"/>
              <a:ea typeface="Arial"/>
              <a:cs typeface="Arial"/>
              <a:sym typeface="Arial"/>
            </a:endParaRPr>
          </a:p>
          <a:p>
            <a:pPr indent="0" lvl="0" marL="0" rtl="0" algn="l">
              <a:lnSpc>
                <a:spcPct val="100000"/>
              </a:lnSpc>
              <a:spcBef>
                <a:spcPts val="1400"/>
              </a:spcBef>
              <a:spcAft>
                <a:spcPts val="0"/>
              </a:spcAft>
              <a:buNone/>
            </a:pPr>
            <a:r>
              <a:rPr lang="en-IN" sz="4800">
                <a:latin typeface="Arial"/>
                <a:ea typeface="Arial"/>
                <a:cs typeface="Arial"/>
                <a:sym typeface="Arial"/>
              </a:rPr>
              <a:t>       iv) Bivariate Analysis Steps</a:t>
            </a:r>
            <a:endParaRPr sz="4800">
              <a:latin typeface="Arial"/>
              <a:ea typeface="Arial"/>
              <a:cs typeface="Arial"/>
              <a:sym typeface="Arial"/>
            </a:endParaRPr>
          </a:p>
          <a:p>
            <a:pPr indent="0" lvl="0" marL="0" rtl="0" algn="l">
              <a:lnSpc>
                <a:spcPct val="100000"/>
              </a:lnSpc>
              <a:spcBef>
                <a:spcPts val="1400"/>
              </a:spcBef>
              <a:spcAft>
                <a:spcPts val="0"/>
              </a:spcAft>
              <a:buNone/>
            </a:pPr>
            <a:r>
              <a:rPr lang="en-IN" sz="4800">
                <a:latin typeface="Arial"/>
                <a:ea typeface="Arial"/>
                <a:cs typeface="Arial"/>
                <a:sym typeface="Arial"/>
              </a:rPr>
              <a:t>       v) Multivariate Analysis (Correlation)</a:t>
            </a:r>
            <a:endParaRPr sz="4800">
              <a:latin typeface="Arial"/>
              <a:ea typeface="Arial"/>
              <a:cs typeface="Arial"/>
              <a:sym typeface="Arial"/>
            </a:endParaRPr>
          </a:p>
          <a:p>
            <a:pPr indent="0" lvl="0" marL="0" rtl="0" algn="l">
              <a:lnSpc>
                <a:spcPct val="115000"/>
              </a:lnSpc>
              <a:spcBef>
                <a:spcPts val="1400"/>
              </a:spcBef>
              <a:spcAft>
                <a:spcPts val="0"/>
              </a:spcAft>
              <a:buNone/>
            </a:pPr>
            <a:r>
              <a:rPr b="1" lang="en-IN" sz="4800">
                <a:latin typeface="Arial"/>
                <a:ea typeface="Arial"/>
                <a:cs typeface="Arial"/>
                <a:sym typeface="Arial"/>
              </a:rPr>
              <a:t>   6. Key Business Questions</a:t>
            </a:r>
            <a:endParaRPr b="1" sz="4800">
              <a:latin typeface="Arial"/>
              <a:ea typeface="Arial"/>
              <a:cs typeface="Arial"/>
              <a:sym typeface="Arial"/>
            </a:endParaRPr>
          </a:p>
          <a:p>
            <a:pPr indent="0" lvl="0" marL="0" rtl="0" algn="l">
              <a:lnSpc>
                <a:spcPct val="115000"/>
              </a:lnSpc>
              <a:spcBef>
                <a:spcPts val="800"/>
              </a:spcBef>
              <a:spcAft>
                <a:spcPts val="0"/>
              </a:spcAft>
              <a:buNone/>
            </a:pPr>
            <a:r>
              <a:rPr b="1" lang="en-IN" sz="4800">
                <a:highlight>
                  <a:srgbClr val="FFFFFF"/>
                </a:highlight>
                <a:latin typeface="Arial"/>
                <a:ea typeface="Arial"/>
                <a:cs typeface="Arial"/>
                <a:sym typeface="Arial"/>
              </a:rPr>
              <a:t>   7. Business Insights for Final Report</a:t>
            </a:r>
            <a:endParaRPr b="1" sz="4800">
              <a:highlight>
                <a:srgbClr val="FFFFFF"/>
              </a:highlight>
              <a:latin typeface="Arial"/>
              <a:ea typeface="Arial"/>
              <a:cs typeface="Arial"/>
              <a:sym typeface="Arial"/>
            </a:endParaRPr>
          </a:p>
          <a:p>
            <a:pPr indent="0" lvl="0" marL="0" rtl="0" algn="l">
              <a:lnSpc>
                <a:spcPct val="115000"/>
              </a:lnSpc>
              <a:spcBef>
                <a:spcPts val="1400"/>
              </a:spcBef>
              <a:spcAft>
                <a:spcPts val="0"/>
              </a:spcAft>
              <a:buNone/>
            </a:pPr>
            <a:r>
              <a:rPr b="1" lang="en-IN" sz="4800">
                <a:latin typeface="Arial"/>
                <a:ea typeface="Arial"/>
                <a:cs typeface="Arial"/>
                <a:sym typeface="Arial"/>
              </a:rPr>
              <a:t>   8. Conclusion</a:t>
            </a:r>
            <a:endParaRPr b="1" sz="4800">
              <a:latin typeface="Arial"/>
              <a:ea typeface="Arial"/>
              <a:cs typeface="Arial"/>
              <a:sym typeface="Arial"/>
            </a:endParaRPr>
          </a:p>
          <a:p>
            <a:pPr indent="0" lvl="0" marL="0" rtl="0" algn="l">
              <a:lnSpc>
                <a:spcPct val="115000"/>
              </a:lnSpc>
              <a:spcBef>
                <a:spcPts val="1400"/>
              </a:spcBef>
              <a:spcAft>
                <a:spcPts val="0"/>
              </a:spcAft>
              <a:buNone/>
            </a:pPr>
            <a:r>
              <a:t/>
            </a:r>
            <a:endParaRPr b="1" sz="6400">
              <a:latin typeface="Arial"/>
              <a:ea typeface="Arial"/>
              <a:cs typeface="Arial"/>
              <a:sym typeface="Arial"/>
            </a:endParaRPr>
          </a:p>
          <a:p>
            <a:pPr indent="0" lvl="0" marL="0" rtl="0" algn="l">
              <a:lnSpc>
                <a:spcPct val="115000"/>
              </a:lnSpc>
              <a:spcBef>
                <a:spcPts val="1400"/>
              </a:spcBef>
              <a:spcAft>
                <a:spcPts val="0"/>
              </a:spcAft>
              <a:buNone/>
            </a:pPr>
            <a:r>
              <a:t/>
            </a:r>
            <a:endParaRPr b="1" sz="4000">
              <a:latin typeface="Arial"/>
              <a:ea typeface="Arial"/>
              <a:cs typeface="Arial"/>
              <a:sym typeface="Arial"/>
            </a:endParaRPr>
          </a:p>
          <a:p>
            <a:pPr indent="0" lvl="0" marL="0" rtl="0" algn="l">
              <a:lnSpc>
                <a:spcPct val="115000"/>
              </a:lnSpc>
              <a:spcBef>
                <a:spcPts val="1400"/>
              </a:spcBef>
              <a:spcAft>
                <a:spcPts val="0"/>
              </a:spcAft>
              <a:buNone/>
            </a:pPr>
            <a:r>
              <a:t/>
            </a:r>
            <a:endParaRPr b="1" sz="4000">
              <a:latin typeface="Arial"/>
              <a:ea typeface="Arial"/>
              <a:cs typeface="Arial"/>
              <a:sym typeface="Arial"/>
            </a:endParaRPr>
          </a:p>
          <a:p>
            <a:pPr indent="0" lvl="0" marL="228600" rtl="0" algn="l">
              <a:spcBef>
                <a:spcPts val="1000"/>
              </a:spcBef>
              <a:spcAft>
                <a:spcPts val="0"/>
              </a:spcAft>
              <a:buNone/>
            </a:pPr>
            <a:r>
              <a:t/>
            </a:r>
            <a:endParaRPr b="1" sz="3750">
              <a:latin typeface="Arial"/>
              <a:ea typeface="Arial"/>
              <a:cs typeface="Arial"/>
              <a:sym typeface="Arial"/>
            </a:endParaRPr>
          </a:p>
          <a:p>
            <a:pPr indent="0" lvl="0" marL="0" rtl="0" algn="l">
              <a:lnSpc>
                <a:spcPct val="115000"/>
              </a:lnSpc>
              <a:spcBef>
                <a:spcPts val="1200"/>
              </a:spcBef>
              <a:spcAft>
                <a:spcPts val="0"/>
              </a:spcAft>
              <a:buNone/>
            </a:pPr>
            <a:r>
              <a:t/>
            </a:r>
            <a:endParaRPr b="1" sz="1700">
              <a:solidFill>
                <a:srgbClr val="FF0000"/>
              </a:solidFill>
              <a:latin typeface="Arial"/>
              <a:ea typeface="Arial"/>
              <a:cs typeface="Arial"/>
              <a:sym typeface="Arial"/>
            </a:endParaRPr>
          </a:p>
          <a:p>
            <a:pPr indent="0" lvl="0" marL="0" rtl="0" algn="l">
              <a:lnSpc>
                <a:spcPct val="115000"/>
              </a:lnSpc>
              <a:spcBef>
                <a:spcPts val="1200"/>
              </a:spcBef>
              <a:spcAft>
                <a:spcPts val="0"/>
              </a:spcAft>
              <a:buNone/>
            </a:pPr>
            <a:r>
              <a:t/>
            </a:r>
            <a:endParaRPr b="1" sz="1700">
              <a:solidFill>
                <a:srgbClr val="FF0000"/>
              </a:solidFill>
              <a:latin typeface="Arial"/>
              <a:ea typeface="Arial"/>
              <a:cs typeface="Arial"/>
              <a:sym typeface="Arial"/>
            </a:endParaRPr>
          </a:p>
          <a:p>
            <a:pPr indent="0" lvl="0" marL="0" rtl="0" algn="l">
              <a:lnSpc>
                <a:spcPct val="115000"/>
              </a:lnSpc>
              <a:spcBef>
                <a:spcPts val="1800"/>
              </a:spcBef>
              <a:spcAft>
                <a:spcPts val="0"/>
              </a:spcAft>
              <a:buNone/>
            </a:pPr>
            <a:r>
              <a:t/>
            </a:r>
            <a:endParaRPr b="1" sz="1700">
              <a:solidFill>
                <a:srgbClr val="FF0000"/>
              </a:solidFill>
              <a:latin typeface="Arial"/>
              <a:ea typeface="Arial"/>
              <a:cs typeface="Arial"/>
              <a:sym typeface="Arial"/>
            </a:endParaRPr>
          </a:p>
          <a:p>
            <a:pPr indent="0" lvl="0" marL="0" rtl="0" algn="l">
              <a:lnSpc>
                <a:spcPct val="115000"/>
              </a:lnSpc>
              <a:spcBef>
                <a:spcPts val="1800"/>
              </a:spcBef>
              <a:spcAft>
                <a:spcPts val="0"/>
              </a:spcAft>
              <a:buClr>
                <a:schemeClr val="dk1"/>
              </a:buClr>
              <a:buSzPct val="64706"/>
              <a:buFont typeface="Arial"/>
              <a:buNone/>
            </a:pPr>
            <a:r>
              <a:t/>
            </a:r>
            <a:endParaRPr b="1" sz="1700">
              <a:solidFill>
                <a:srgbClr val="FF0000"/>
              </a:solidFill>
              <a:latin typeface="Arial"/>
              <a:ea typeface="Arial"/>
              <a:cs typeface="Arial"/>
              <a:sym typeface="Arial"/>
            </a:endParaRPr>
          </a:p>
          <a:p>
            <a:pPr indent="0" lvl="0" marL="457200" rtl="0" algn="l">
              <a:lnSpc>
                <a:spcPct val="115000"/>
              </a:lnSpc>
              <a:spcBef>
                <a:spcPts val="1200"/>
              </a:spcBef>
              <a:spcAft>
                <a:spcPts val="0"/>
              </a:spcAft>
              <a:buNone/>
            </a:pPr>
            <a:r>
              <a:t/>
            </a:r>
            <a:endParaRPr sz="1900">
              <a:latin typeface="Arial"/>
              <a:ea typeface="Arial"/>
              <a:cs typeface="Arial"/>
              <a:sym typeface="Arial"/>
            </a:endParaRPr>
          </a:p>
          <a:p>
            <a:pPr indent="0" lvl="0" marL="457200" rtl="0" algn="l">
              <a:lnSpc>
                <a:spcPct val="115000"/>
              </a:lnSpc>
              <a:spcBef>
                <a:spcPts val="1200"/>
              </a:spcBef>
              <a:spcAft>
                <a:spcPts val="0"/>
              </a:spcAft>
              <a:buNone/>
            </a:pPr>
            <a:r>
              <a:t/>
            </a:r>
            <a:endParaRPr sz="1900">
              <a:latin typeface="Arial"/>
              <a:ea typeface="Arial"/>
              <a:cs typeface="Arial"/>
              <a:sym typeface="Arial"/>
            </a:endParaRPr>
          </a:p>
          <a:p>
            <a:pPr indent="0" lvl="0" marL="0" rtl="0" algn="l">
              <a:lnSpc>
                <a:spcPct val="115000"/>
              </a:lnSpc>
              <a:spcBef>
                <a:spcPts val="1200"/>
              </a:spcBef>
              <a:spcAft>
                <a:spcPts val="0"/>
              </a:spcAft>
              <a:buClr>
                <a:schemeClr val="dk1"/>
              </a:buClr>
              <a:buSzPct val="91667"/>
              <a:buNone/>
            </a:pPr>
            <a:r>
              <a:t/>
            </a:r>
            <a:endParaRPr sz="1200">
              <a:latin typeface="Arial"/>
              <a:ea typeface="Arial"/>
              <a:cs typeface="Arial"/>
              <a:sym typeface="Arial"/>
            </a:endParaRPr>
          </a:p>
          <a:p>
            <a:pPr indent="0" lvl="0" marL="0" rtl="0" algn="l">
              <a:lnSpc>
                <a:spcPct val="115000"/>
              </a:lnSpc>
              <a:spcBef>
                <a:spcPts val="1200"/>
              </a:spcBef>
              <a:spcAft>
                <a:spcPts val="0"/>
              </a:spcAft>
              <a:buClr>
                <a:schemeClr val="dk1"/>
              </a:buClr>
              <a:buSzPct val="39286"/>
              <a:buFont typeface="Arial"/>
              <a:buNone/>
            </a:pPr>
            <a:r>
              <a:t/>
            </a:r>
            <a:endParaRPr/>
          </a:p>
          <a:p>
            <a:pPr indent="0" lvl="0" marL="97790" rtl="0" algn="l">
              <a:lnSpc>
                <a:spcPct val="90000"/>
              </a:lnSpc>
              <a:spcBef>
                <a:spcPts val="1100"/>
              </a:spcBef>
              <a:spcAft>
                <a:spcPts val="0"/>
              </a:spcAft>
              <a:buClr>
                <a:schemeClr val="dk1"/>
              </a:buClr>
              <a:buSzPct val="1000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6"/>
          <p:cNvSpPr txBox="1"/>
          <p:nvPr>
            <p:ph type="title"/>
          </p:nvPr>
        </p:nvSpPr>
        <p:spPr>
          <a:xfrm>
            <a:off x="229450" y="167775"/>
            <a:ext cx="10515600" cy="8601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IN" sz="3100">
                <a:solidFill>
                  <a:srgbClr val="FF0000"/>
                </a:solidFill>
                <a:latin typeface="Arial"/>
                <a:ea typeface="Arial"/>
                <a:cs typeface="Arial"/>
                <a:sym typeface="Arial"/>
              </a:rPr>
              <a:t> </a:t>
            </a:r>
            <a:r>
              <a:rPr b="1" lang="en-IN" sz="3100">
                <a:solidFill>
                  <a:srgbClr val="FF0000"/>
                </a:solidFill>
                <a:latin typeface="Arial"/>
                <a:ea typeface="Arial"/>
                <a:cs typeface="Arial"/>
                <a:sym typeface="Arial"/>
              </a:rPr>
              <a:t>Business Problem</a:t>
            </a:r>
            <a:endParaRPr b="1" sz="3100">
              <a:solidFill>
                <a:srgbClr val="FF0000"/>
              </a:solidFill>
              <a:latin typeface="Arial"/>
              <a:ea typeface="Arial"/>
              <a:cs typeface="Arial"/>
              <a:sym typeface="Arial"/>
            </a:endParaRPr>
          </a:p>
          <a:p>
            <a:pPr indent="0" lvl="0" marL="0" rtl="0" algn="l">
              <a:lnSpc>
                <a:spcPct val="90000"/>
              </a:lnSpc>
              <a:spcBef>
                <a:spcPts val="400"/>
              </a:spcBef>
              <a:spcAft>
                <a:spcPts val="0"/>
              </a:spcAft>
              <a:buClr>
                <a:srgbClr val="FF0000"/>
              </a:buClr>
              <a:buSzPts val="4400"/>
              <a:buFont typeface="Calibri"/>
              <a:buNone/>
            </a:pPr>
            <a:r>
              <a:t/>
            </a:r>
            <a:endParaRPr b="1" sz="3100">
              <a:solidFill>
                <a:srgbClr val="FF0000"/>
              </a:solidFill>
            </a:endParaRPr>
          </a:p>
        </p:txBody>
      </p:sp>
      <p:sp>
        <p:nvSpPr>
          <p:cNvPr id="117" name="Google Shape;117;p16"/>
          <p:cNvSpPr txBox="1"/>
          <p:nvPr>
            <p:ph idx="1" type="body"/>
          </p:nvPr>
        </p:nvSpPr>
        <p:spPr>
          <a:xfrm>
            <a:off x="324900" y="713075"/>
            <a:ext cx="11542200" cy="49077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15000"/>
              </a:lnSpc>
              <a:spcBef>
                <a:spcPts val="1200"/>
              </a:spcBef>
              <a:spcAft>
                <a:spcPts val="0"/>
              </a:spcAft>
              <a:buClr>
                <a:schemeClr val="dk1"/>
              </a:buClr>
              <a:buSzPts val="275"/>
              <a:buNone/>
            </a:pPr>
            <a:r>
              <a:rPr lang="en-IN" sz="4850">
                <a:latin typeface="Arial"/>
                <a:ea typeface="Arial"/>
                <a:cs typeface="Arial"/>
                <a:sym typeface="Arial"/>
              </a:rPr>
              <a:t>The laptop market on e-commerce platforms offers a wide range of products with varying prices, specifications, brands, and customer ratings. Customers often find it difficult to identify the factors that influence laptop prices and determine which products provide the best value for money.</a:t>
            </a:r>
            <a:endParaRPr sz="4850">
              <a:latin typeface="Arial"/>
              <a:ea typeface="Arial"/>
              <a:cs typeface="Arial"/>
              <a:sym typeface="Arial"/>
            </a:endParaRPr>
          </a:p>
          <a:p>
            <a:pPr indent="0" lvl="0" marL="0" rtl="0" algn="l">
              <a:lnSpc>
                <a:spcPct val="115000"/>
              </a:lnSpc>
              <a:spcBef>
                <a:spcPts val="1200"/>
              </a:spcBef>
              <a:spcAft>
                <a:spcPts val="0"/>
              </a:spcAft>
              <a:buClr>
                <a:schemeClr val="dk1"/>
              </a:buClr>
              <a:buSzPts val="275"/>
              <a:buNone/>
            </a:pPr>
            <a:r>
              <a:rPr lang="en-IN" sz="4850">
                <a:latin typeface="Arial"/>
                <a:ea typeface="Arial"/>
                <a:cs typeface="Arial"/>
                <a:sym typeface="Arial"/>
              </a:rPr>
              <a:t>The objective of this project is to analyze laptop data collected from Flipkart and understand how different features such as brand, processor type, RAM, storage capacity, operating system, screen size, customer ratings, reviews, and discounts impact laptop prices.</a:t>
            </a:r>
            <a:endParaRPr sz="1200">
              <a:latin typeface="Arial"/>
              <a:ea typeface="Arial"/>
              <a:cs typeface="Arial"/>
              <a:sym typeface="Arial"/>
            </a:endParaRPr>
          </a:p>
          <a:p>
            <a:pPr indent="0" lvl="0" marL="0" rtl="0" algn="l">
              <a:lnSpc>
                <a:spcPct val="115000"/>
              </a:lnSpc>
              <a:spcBef>
                <a:spcPts val="1800"/>
              </a:spcBef>
              <a:spcAft>
                <a:spcPts val="0"/>
              </a:spcAft>
              <a:buClr>
                <a:schemeClr val="dk1"/>
              </a:buClr>
              <a:buSzPts val="275"/>
              <a:buNone/>
            </a:pPr>
            <a:r>
              <a:rPr b="1" lang="en-IN" sz="5300">
                <a:latin typeface="Arial"/>
                <a:ea typeface="Arial"/>
                <a:cs typeface="Arial"/>
                <a:sym typeface="Arial"/>
              </a:rPr>
              <a:t>Use Case / Domain Understanding</a:t>
            </a:r>
            <a:endParaRPr b="1" sz="5300">
              <a:latin typeface="Arial"/>
              <a:ea typeface="Arial"/>
              <a:cs typeface="Arial"/>
              <a:sym typeface="Arial"/>
            </a:endParaRPr>
          </a:p>
          <a:p>
            <a:pPr indent="0" lvl="0" marL="0" rtl="0" algn="l">
              <a:lnSpc>
                <a:spcPct val="115000"/>
              </a:lnSpc>
              <a:spcBef>
                <a:spcPts val="1400"/>
              </a:spcBef>
              <a:spcAft>
                <a:spcPts val="0"/>
              </a:spcAft>
              <a:buClr>
                <a:schemeClr val="dk1"/>
              </a:buClr>
              <a:buSzPts val="275"/>
              <a:buNone/>
            </a:pPr>
            <a:r>
              <a:rPr b="1" lang="en-IN" sz="4800">
                <a:latin typeface="Arial"/>
                <a:ea typeface="Arial"/>
                <a:cs typeface="Arial"/>
                <a:sym typeface="Arial"/>
              </a:rPr>
              <a:t>Domain</a:t>
            </a:r>
            <a:endParaRPr b="1" sz="4800">
              <a:latin typeface="Arial"/>
              <a:ea typeface="Arial"/>
              <a:cs typeface="Arial"/>
              <a:sym typeface="Arial"/>
            </a:endParaRPr>
          </a:p>
          <a:p>
            <a:pPr indent="0" lvl="0" marL="0" rtl="0" algn="l">
              <a:lnSpc>
                <a:spcPct val="115000"/>
              </a:lnSpc>
              <a:spcBef>
                <a:spcPts val="1200"/>
              </a:spcBef>
              <a:spcAft>
                <a:spcPts val="0"/>
              </a:spcAft>
              <a:buClr>
                <a:schemeClr val="dk1"/>
              </a:buClr>
              <a:buSzPts val="275"/>
              <a:buNone/>
            </a:pPr>
            <a:r>
              <a:rPr b="1" lang="en-IN" sz="4800">
                <a:latin typeface="Arial"/>
                <a:ea typeface="Arial"/>
                <a:cs typeface="Arial"/>
                <a:sym typeface="Arial"/>
              </a:rPr>
              <a:t>E-Commerce / Retail Analytics</a:t>
            </a:r>
            <a:endParaRPr b="1" sz="4800">
              <a:latin typeface="Arial"/>
              <a:ea typeface="Arial"/>
              <a:cs typeface="Arial"/>
              <a:sym typeface="Arial"/>
            </a:endParaRPr>
          </a:p>
          <a:p>
            <a:pPr indent="0" lvl="0" marL="0" rtl="0" algn="l">
              <a:lnSpc>
                <a:spcPct val="115000"/>
              </a:lnSpc>
              <a:spcBef>
                <a:spcPts val="1400"/>
              </a:spcBef>
              <a:spcAft>
                <a:spcPts val="0"/>
              </a:spcAft>
              <a:buClr>
                <a:schemeClr val="dk1"/>
              </a:buClr>
              <a:buSzPts val="275"/>
              <a:buNone/>
            </a:pPr>
            <a:r>
              <a:rPr b="1" lang="en-IN" sz="4800">
                <a:latin typeface="Arial"/>
                <a:ea typeface="Arial"/>
                <a:cs typeface="Arial"/>
                <a:sym typeface="Arial"/>
              </a:rPr>
              <a:t>Use Case</a:t>
            </a:r>
            <a:endParaRPr b="1" sz="4800">
              <a:latin typeface="Arial"/>
              <a:ea typeface="Arial"/>
              <a:cs typeface="Arial"/>
              <a:sym typeface="Arial"/>
            </a:endParaRPr>
          </a:p>
          <a:p>
            <a:pPr indent="0" lvl="0" marL="0" rtl="0" algn="l">
              <a:lnSpc>
                <a:spcPct val="115000"/>
              </a:lnSpc>
              <a:spcBef>
                <a:spcPts val="1200"/>
              </a:spcBef>
              <a:spcAft>
                <a:spcPts val="0"/>
              </a:spcAft>
              <a:buClr>
                <a:schemeClr val="dk1"/>
              </a:buClr>
              <a:buSzPts val="275"/>
              <a:buNone/>
            </a:pPr>
            <a:r>
              <a:rPr lang="en-IN" sz="4800">
                <a:latin typeface="Arial"/>
                <a:ea typeface="Arial"/>
                <a:cs typeface="Arial"/>
                <a:sym typeface="Arial"/>
              </a:rPr>
              <a:t>This analysis can help:</a:t>
            </a:r>
            <a:endParaRPr sz="4800">
              <a:latin typeface="Arial"/>
              <a:ea typeface="Arial"/>
              <a:cs typeface="Arial"/>
              <a:sym typeface="Arial"/>
            </a:endParaRPr>
          </a:p>
          <a:p>
            <a:pPr indent="0" lvl="0" marL="0" rtl="0" algn="l">
              <a:lnSpc>
                <a:spcPct val="115000"/>
              </a:lnSpc>
              <a:spcBef>
                <a:spcPts val="1200"/>
              </a:spcBef>
              <a:spcAft>
                <a:spcPts val="0"/>
              </a:spcAft>
              <a:buClr>
                <a:schemeClr val="dk1"/>
              </a:buClr>
              <a:buSzPts val="275"/>
              <a:buNone/>
            </a:pPr>
            <a:r>
              <a:rPr b="1" lang="en-IN" sz="4800">
                <a:latin typeface="Arial"/>
                <a:ea typeface="Arial"/>
                <a:cs typeface="Arial"/>
                <a:sym typeface="Arial"/>
              </a:rPr>
              <a:t>Customers</a:t>
            </a:r>
            <a:endParaRPr b="1" sz="4800">
              <a:latin typeface="Arial"/>
              <a:ea typeface="Arial"/>
              <a:cs typeface="Arial"/>
              <a:sym typeface="Arial"/>
            </a:endParaRPr>
          </a:p>
          <a:p>
            <a:pPr indent="-304800" lvl="0" marL="457200" rtl="0" algn="l">
              <a:lnSpc>
                <a:spcPct val="115000"/>
              </a:lnSpc>
              <a:spcBef>
                <a:spcPts val="1200"/>
              </a:spcBef>
              <a:spcAft>
                <a:spcPts val="0"/>
              </a:spcAft>
              <a:buSzPct val="100000"/>
              <a:buChar char="●"/>
            </a:pPr>
            <a:r>
              <a:rPr lang="en-IN" sz="4800">
                <a:latin typeface="Arial"/>
                <a:ea typeface="Arial"/>
                <a:cs typeface="Arial"/>
                <a:sym typeface="Arial"/>
              </a:rPr>
              <a:t>Compare laptops based on specifications and price.</a:t>
            </a:r>
            <a:endParaRPr sz="4800">
              <a:latin typeface="Arial"/>
              <a:ea typeface="Arial"/>
              <a:cs typeface="Arial"/>
              <a:sym typeface="Arial"/>
            </a:endParaRPr>
          </a:p>
          <a:p>
            <a:pPr indent="-304800" lvl="0" marL="457200" rtl="0" algn="l">
              <a:lnSpc>
                <a:spcPct val="115000"/>
              </a:lnSpc>
              <a:spcBef>
                <a:spcPts val="0"/>
              </a:spcBef>
              <a:spcAft>
                <a:spcPts val="0"/>
              </a:spcAft>
              <a:buSzPct val="100000"/>
              <a:buChar char="●"/>
            </a:pPr>
            <a:r>
              <a:rPr lang="en-IN" sz="4800">
                <a:latin typeface="Arial"/>
                <a:ea typeface="Arial"/>
                <a:cs typeface="Arial"/>
                <a:sym typeface="Arial"/>
              </a:rPr>
              <a:t>Identify laptops that offer the best value for money.</a:t>
            </a:r>
            <a:endParaRPr sz="4800">
              <a:latin typeface="Arial"/>
              <a:ea typeface="Arial"/>
              <a:cs typeface="Arial"/>
              <a:sym typeface="Arial"/>
            </a:endParaRPr>
          </a:p>
          <a:p>
            <a:pPr indent="0" lvl="0" marL="0" rtl="0" algn="l">
              <a:lnSpc>
                <a:spcPct val="115000"/>
              </a:lnSpc>
              <a:spcBef>
                <a:spcPts val="1200"/>
              </a:spcBef>
              <a:spcAft>
                <a:spcPts val="0"/>
              </a:spcAft>
              <a:buClr>
                <a:schemeClr val="dk1"/>
              </a:buClr>
              <a:buSzPts val="275"/>
              <a:buNone/>
            </a:pPr>
            <a:r>
              <a:rPr b="1" lang="en-IN" sz="4800">
                <a:latin typeface="Arial"/>
                <a:ea typeface="Arial"/>
                <a:cs typeface="Arial"/>
                <a:sym typeface="Arial"/>
              </a:rPr>
              <a:t>E-Commerce Platforms</a:t>
            </a:r>
            <a:endParaRPr b="1" sz="4800">
              <a:latin typeface="Arial"/>
              <a:ea typeface="Arial"/>
              <a:cs typeface="Arial"/>
              <a:sym typeface="Arial"/>
            </a:endParaRPr>
          </a:p>
          <a:p>
            <a:pPr indent="-304800" lvl="0" marL="457200" rtl="0" algn="l">
              <a:lnSpc>
                <a:spcPct val="115000"/>
              </a:lnSpc>
              <a:spcBef>
                <a:spcPts val="1200"/>
              </a:spcBef>
              <a:spcAft>
                <a:spcPts val="0"/>
              </a:spcAft>
              <a:buSzPct val="100000"/>
              <a:buChar char="●"/>
            </a:pPr>
            <a:r>
              <a:rPr lang="en-IN" sz="4800">
                <a:latin typeface="Arial"/>
                <a:ea typeface="Arial"/>
                <a:cs typeface="Arial"/>
                <a:sym typeface="Arial"/>
              </a:rPr>
              <a:t>Understand pricing trends across different brands and configurations.</a:t>
            </a:r>
            <a:endParaRPr sz="4800">
              <a:latin typeface="Arial"/>
              <a:ea typeface="Arial"/>
              <a:cs typeface="Arial"/>
              <a:sym typeface="Arial"/>
            </a:endParaRPr>
          </a:p>
          <a:p>
            <a:pPr indent="-304800" lvl="0" marL="457200" rtl="0" algn="l">
              <a:lnSpc>
                <a:spcPct val="115000"/>
              </a:lnSpc>
              <a:spcBef>
                <a:spcPts val="0"/>
              </a:spcBef>
              <a:spcAft>
                <a:spcPts val="0"/>
              </a:spcAft>
              <a:buSzPct val="100000"/>
              <a:buChar char="●"/>
            </a:pPr>
            <a:r>
              <a:rPr lang="en-IN" sz="4800">
                <a:latin typeface="Arial"/>
                <a:ea typeface="Arial"/>
                <a:cs typeface="Arial"/>
                <a:sym typeface="Arial"/>
              </a:rPr>
              <a:t>Optimize product recommendations.</a:t>
            </a:r>
            <a:endParaRPr sz="4800">
              <a:latin typeface="Arial"/>
              <a:ea typeface="Arial"/>
              <a:cs typeface="Arial"/>
              <a:sym typeface="Arial"/>
            </a:endParaRPr>
          </a:p>
          <a:p>
            <a:pPr indent="-304800" lvl="0" marL="457200" rtl="0" algn="l">
              <a:lnSpc>
                <a:spcPct val="115000"/>
              </a:lnSpc>
              <a:spcBef>
                <a:spcPts val="0"/>
              </a:spcBef>
              <a:spcAft>
                <a:spcPts val="0"/>
              </a:spcAft>
              <a:buSzPct val="100000"/>
              <a:buChar char="●"/>
            </a:pPr>
            <a:r>
              <a:rPr lang="en-IN" sz="4800">
                <a:latin typeface="Arial"/>
                <a:ea typeface="Arial"/>
                <a:cs typeface="Arial"/>
                <a:sym typeface="Arial"/>
              </a:rPr>
              <a:t>Improve inventory planning and promotional strategies.</a:t>
            </a:r>
            <a:endParaRPr sz="4800">
              <a:latin typeface="Arial"/>
              <a:ea typeface="Arial"/>
              <a:cs typeface="Arial"/>
              <a:sym typeface="Arial"/>
            </a:endParaRPr>
          </a:p>
          <a:p>
            <a:pPr indent="0" lvl="0" marL="0" rtl="0" algn="l">
              <a:lnSpc>
                <a:spcPct val="115000"/>
              </a:lnSpc>
              <a:spcBef>
                <a:spcPts val="1200"/>
              </a:spcBef>
              <a:spcAft>
                <a:spcPts val="0"/>
              </a:spcAft>
              <a:buClr>
                <a:schemeClr val="dk1"/>
              </a:buClr>
              <a:buSzPts val="275"/>
              <a:buNone/>
            </a:pPr>
            <a:r>
              <a:rPr b="1" lang="en-IN" sz="4800">
                <a:latin typeface="Arial"/>
                <a:ea typeface="Arial"/>
                <a:cs typeface="Arial"/>
                <a:sym typeface="Arial"/>
              </a:rPr>
              <a:t>Laptop Manufacturers</a:t>
            </a:r>
            <a:endParaRPr b="1" sz="4800">
              <a:latin typeface="Arial"/>
              <a:ea typeface="Arial"/>
              <a:cs typeface="Arial"/>
              <a:sym typeface="Arial"/>
            </a:endParaRPr>
          </a:p>
          <a:p>
            <a:pPr indent="-304800" lvl="0" marL="457200" rtl="0" algn="l">
              <a:lnSpc>
                <a:spcPct val="115000"/>
              </a:lnSpc>
              <a:spcBef>
                <a:spcPts val="1200"/>
              </a:spcBef>
              <a:spcAft>
                <a:spcPts val="0"/>
              </a:spcAft>
              <a:buSzPct val="100000"/>
              <a:buChar char="●"/>
            </a:pPr>
            <a:r>
              <a:rPr lang="en-IN" sz="4800">
                <a:latin typeface="Arial"/>
                <a:ea typeface="Arial"/>
                <a:cs typeface="Arial"/>
                <a:sym typeface="Arial"/>
              </a:rPr>
              <a:t>Analyze competitor pricing.</a:t>
            </a:r>
            <a:endParaRPr sz="4800">
              <a:latin typeface="Arial"/>
              <a:ea typeface="Arial"/>
              <a:cs typeface="Arial"/>
              <a:sym typeface="Arial"/>
            </a:endParaRPr>
          </a:p>
          <a:p>
            <a:pPr indent="-304800" lvl="0" marL="457200" rtl="0" algn="l">
              <a:lnSpc>
                <a:spcPct val="115000"/>
              </a:lnSpc>
              <a:spcBef>
                <a:spcPts val="0"/>
              </a:spcBef>
              <a:spcAft>
                <a:spcPts val="0"/>
              </a:spcAft>
              <a:buSzPct val="100000"/>
              <a:buChar char="●"/>
            </a:pPr>
            <a:r>
              <a:rPr lang="en-IN" sz="4800">
                <a:latin typeface="Arial"/>
                <a:ea typeface="Arial"/>
                <a:cs typeface="Arial"/>
                <a:sym typeface="Arial"/>
              </a:rPr>
              <a:t>Understand customer preferences.</a:t>
            </a:r>
            <a:endParaRPr sz="4800">
              <a:latin typeface="Arial"/>
              <a:ea typeface="Arial"/>
              <a:cs typeface="Arial"/>
              <a:sym typeface="Arial"/>
            </a:endParaRPr>
          </a:p>
          <a:p>
            <a:pPr indent="-304800" lvl="0" marL="457200" rtl="0" algn="l">
              <a:lnSpc>
                <a:spcPct val="115000"/>
              </a:lnSpc>
              <a:spcBef>
                <a:spcPts val="0"/>
              </a:spcBef>
              <a:spcAft>
                <a:spcPts val="0"/>
              </a:spcAft>
              <a:buSzPct val="100000"/>
              <a:buChar char="●"/>
            </a:pPr>
            <a:r>
              <a:rPr lang="en-IN" sz="4800">
                <a:latin typeface="Arial"/>
                <a:ea typeface="Arial"/>
                <a:cs typeface="Arial"/>
                <a:sym typeface="Arial"/>
              </a:rPr>
              <a:t>Design products that align with market demand.</a:t>
            </a:r>
            <a:endParaRPr sz="4800">
              <a:latin typeface="Arial"/>
              <a:ea typeface="Arial"/>
              <a:cs typeface="Arial"/>
              <a:sym typeface="Arial"/>
            </a:endParaRPr>
          </a:p>
          <a:p>
            <a:pPr indent="0" lvl="0" marL="0" rtl="0" algn="l">
              <a:lnSpc>
                <a:spcPct val="115000"/>
              </a:lnSpc>
              <a:spcBef>
                <a:spcPts val="1200"/>
              </a:spcBef>
              <a:spcAft>
                <a:spcPts val="0"/>
              </a:spcAft>
              <a:buClr>
                <a:schemeClr val="dk1"/>
              </a:buClr>
              <a:buSzPct val="91667"/>
              <a:buNone/>
            </a:pPr>
            <a:r>
              <a:t/>
            </a:r>
            <a:endParaRPr sz="1200">
              <a:latin typeface="Arial"/>
              <a:ea typeface="Arial"/>
              <a:cs typeface="Arial"/>
              <a:sym typeface="Arial"/>
            </a:endParaRPr>
          </a:p>
          <a:p>
            <a:pPr indent="0" lvl="0" marL="0" rtl="0" algn="l">
              <a:lnSpc>
                <a:spcPct val="115000"/>
              </a:lnSpc>
              <a:spcBef>
                <a:spcPts val="1200"/>
              </a:spcBef>
              <a:spcAft>
                <a:spcPts val="0"/>
              </a:spcAft>
              <a:buClr>
                <a:schemeClr val="dk1"/>
              </a:buClr>
              <a:buSzPct val="39286"/>
              <a:buFont typeface="Arial"/>
              <a:buNone/>
            </a:pPr>
            <a:r>
              <a:t/>
            </a:r>
            <a:endParaRPr/>
          </a:p>
          <a:p>
            <a:pPr indent="0" lvl="0" marL="97790" rtl="0" algn="l">
              <a:lnSpc>
                <a:spcPct val="90000"/>
              </a:lnSpc>
              <a:spcBef>
                <a:spcPts val="1100"/>
              </a:spcBef>
              <a:spcAft>
                <a:spcPts val="0"/>
              </a:spcAft>
              <a:buClr>
                <a:schemeClr val="dk1"/>
              </a:buClr>
              <a:buSzPct val="1000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7"/>
          <p:cNvSpPr txBox="1"/>
          <p:nvPr/>
        </p:nvSpPr>
        <p:spPr>
          <a:xfrm>
            <a:off x="737812" y="1299172"/>
            <a:ext cx="7007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p:txBody>
      </p:sp>
      <p:sp>
        <p:nvSpPr>
          <p:cNvPr id="123" name="Google Shape;123;p17"/>
          <p:cNvSpPr txBox="1"/>
          <p:nvPr/>
        </p:nvSpPr>
        <p:spPr>
          <a:xfrm>
            <a:off x="406675" y="374600"/>
            <a:ext cx="11337900" cy="97773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800"/>
              </a:spcBef>
              <a:spcAft>
                <a:spcPts val="0"/>
              </a:spcAft>
              <a:buClr>
                <a:schemeClr val="dk1"/>
              </a:buClr>
              <a:buSzPts val="1100"/>
              <a:buFont typeface="Arial"/>
              <a:buNone/>
            </a:pPr>
            <a:r>
              <a:rPr b="1" lang="en-IN" sz="1700">
                <a:solidFill>
                  <a:srgbClr val="FF0000"/>
                </a:solidFill>
              </a:rPr>
              <a:t>Business Objectives</a:t>
            </a:r>
            <a:endParaRPr b="1" sz="1700">
              <a:solidFill>
                <a:srgbClr val="FF0000"/>
              </a:solidFill>
            </a:endParaRPr>
          </a:p>
          <a:p>
            <a:pPr indent="-304800" lvl="0" marL="457200" rtl="0" algn="l">
              <a:lnSpc>
                <a:spcPct val="200000"/>
              </a:lnSpc>
              <a:spcBef>
                <a:spcPts val="1200"/>
              </a:spcBef>
              <a:spcAft>
                <a:spcPts val="0"/>
              </a:spcAft>
              <a:buClr>
                <a:schemeClr val="dk1"/>
              </a:buClr>
              <a:buSzPts val="1200"/>
              <a:buAutoNum type="arabicPeriod"/>
            </a:pPr>
            <a:r>
              <a:rPr lang="en-IN" sz="1200">
                <a:solidFill>
                  <a:schemeClr val="dk1"/>
                </a:solidFill>
              </a:rPr>
              <a:t>Analyze the distribution of laptop prices on Flipkart.</a:t>
            </a:r>
            <a:endParaRPr sz="1200">
              <a:solidFill>
                <a:schemeClr val="dk1"/>
              </a:solidFill>
            </a:endParaRPr>
          </a:p>
          <a:p>
            <a:pPr indent="-304800" lvl="0" marL="457200" rtl="0" algn="l">
              <a:lnSpc>
                <a:spcPct val="200000"/>
              </a:lnSpc>
              <a:spcBef>
                <a:spcPts val="0"/>
              </a:spcBef>
              <a:spcAft>
                <a:spcPts val="0"/>
              </a:spcAft>
              <a:buClr>
                <a:schemeClr val="dk1"/>
              </a:buClr>
              <a:buSzPts val="1200"/>
              <a:buAutoNum type="arabicPeriod"/>
            </a:pPr>
            <a:r>
              <a:rPr lang="en-IN" sz="1200">
                <a:solidFill>
                  <a:schemeClr val="dk1"/>
                </a:solidFill>
              </a:rPr>
              <a:t>Identify the most popular laptop brands and configurations.</a:t>
            </a:r>
            <a:endParaRPr sz="1200">
              <a:solidFill>
                <a:schemeClr val="dk1"/>
              </a:solidFill>
            </a:endParaRPr>
          </a:p>
          <a:p>
            <a:pPr indent="-304800" lvl="0" marL="457200" rtl="0" algn="l">
              <a:lnSpc>
                <a:spcPct val="200000"/>
              </a:lnSpc>
              <a:spcBef>
                <a:spcPts val="0"/>
              </a:spcBef>
              <a:spcAft>
                <a:spcPts val="0"/>
              </a:spcAft>
              <a:buClr>
                <a:schemeClr val="dk1"/>
              </a:buClr>
              <a:buSzPts val="1200"/>
              <a:buAutoNum type="arabicPeriod"/>
            </a:pPr>
            <a:r>
              <a:rPr lang="en-IN" sz="1200">
                <a:solidFill>
                  <a:schemeClr val="dk1"/>
                </a:solidFill>
              </a:rPr>
              <a:t>Study the relationship between laptop prices and specifications such as RAM, storage, processor type, and screen size.</a:t>
            </a:r>
            <a:endParaRPr sz="1200">
              <a:solidFill>
                <a:schemeClr val="dk1"/>
              </a:solidFill>
            </a:endParaRPr>
          </a:p>
          <a:p>
            <a:pPr indent="-304800" lvl="0" marL="457200" rtl="0" algn="l">
              <a:lnSpc>
                <a:spcPct val="200000"/>
              </a:lnSpc>
              <a:spcBef>
                <a:spcPts val="0"/>
              </a:spcBef>
              <a:spcAft>
                <a:spcPts val="0"/>
              </a:spcAft>
              <a:buClr>
                <a:schemeClr val="dk1"/>
              </a:buClr>
              <a:buSzPts val="1200"/>
              <a:buAutoNum type="arabicPeriod"/>
            </a:pPr>
            <a:r>
              <a:rPr lang="en-IN" sz="1200">
                <a:solidFill>
                  <a:schemeClr val="dk1"/>
                </a:solidFill>
              </a:rPr>
              <a:t>Analyze the impact of customer ratings, reviews, and discounts on laptop prices.</a:t>
            </a:r>
            <a:endParaRPr sz="1200">
              <a:solidFill>
                <a:schemeClr val="dk1"/>
              </a:solidFill>
            </a:endParaRPr>
          </a:p>
          <a:p>
            <a:pPr indent="-304800" lvl="0" marL="457200" rtl="0" algn="l">
              <a:lnSpc>
                <a:spcPct val="200000"/>
              </a:lnSpc>
              <a:spcBef>
                <a:spcPts val="0"/>
              </a:spcBef>
              <a:spcAft>
                <a:spcPts val="0"/>
              </a:spcAft>
              <a:buClr>
                <a:schemeClr val="dk1"/>
              </a:buClr>
              <a:buSzPts val="1200"/>
              <a:buAutoNum type="arabicPeriod"/>
            </a:pPr>
            <a:r>
              <a:rPr lang="en-IN" sz="1200">
                <a:solidFill>
                  <a:schemeClr val="dk1"/>
                </a:solidFill>
              </a:rPr>
              <a:t>Generate actionable insights that can support customer decision-making and business strategies.</a:t>
            </a:r>
            <a:endParaRPr sz="1100">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IN" sz="1700">
                <a:solidFill>
                  <a:srgbClr val="FF0000"/>
                </a:solidFill>
              </a:rPr>
              <a:t>Target Variable</a:t>
            </a:r>
            <a:endParaRPr b="1" sz="1700">
              <a:solidFill>
                <a:srgbClr val="FF0000"/>
              </a:solidFill>
            </a:endParaRPr>
          </a:p>
          <a:p>
            <a:pPr indent="0" lvl="0" marL="0" rtl="0" algn="l">
              <a:lnSpc>
                <a:spcPct val="115000"/>
              </a:lnSpc>
              <a:spcBef>
                <a:spcPts val="1200"/>
              </a:spcBef>
              <a:spcAft>
                <a:spcPts val="0"/>
              </a:spcAft>
              <a:buClr>
                <a:schemeClr val="dk1"/>
              </a:buClr>
              <a:buSzPts val="1100"/>
              <a:buFont typeface="Arial"/>
              <a:buNone/>
            </a:pPr>
            <a:r>
              <a:rPr b="1" lang="en-IN" sz="1100">
                <a:solidFill>
                  <a:schemeClr val="dk1"/>
                </a:solidFill>
              </a:rPr>
              <a:t>Price of Laptop (Prices)</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IN" sz="1200">
                <a:solidFill>
                  <a:schemeClr val="dk1"/>
                </a:solidFill>
              </a:rPr>
              <a:t>The primary objective is to understand which factors influence laptop prices and how strongly they contribute to price variations across different laptop models.</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IN" sz="1700">
                <a:solidFill>
                  <a:srgbClr val="FF0000"/>
                </a:solidFill>
              </a:rPr>
              <a:t>Web Scraping Process</a:t>
            </a:r>
            <a:endParaRPr b="1" sz="1700">
              <a:solidFill>
                <a:srgbClr val="FF0000"/>
              </a:solidFill>
            </a:endParaRPr>
          </a:p>
          <a:p>
            <a:pPr indent="0" lvl="0" marL="0" rtl="0" algn="l">
              <a:lnSpc>
                <a:spcPct val="115000"/>
              </a:lnSpc>
              <a:spcBef>
                <a:spcPts val="1200"/>
              </a:spcBef>
              <a:spcAft>
                <a:spcPts val="0"/>
              </a:spcAft>
              <a:buClr>
                <a:schemeClr val="dk1"/>
              </a:buClr>
              <a:buSzPts val="1100"/>
              <a:buFont typeface="Arial"/>
              <a:buNone/>
            </a:pPr>
            <a:r>
              <a:rPr lang="en-IN" sz="1300">
                <a:solidFill>
                  <a:schemeClr val="dk1"/>
                </a:solidFill>
              </a:rPr>
              <a:t>Website : Flipkart</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IN" sz="1300">
                <a:solidFill>
                  <a:schemeClr val="dk1"/>
                </a:solidFill>
              </a:rPr>
              <a:t>Category</a:t>
            </a:r>
            <a:r>
              <a:rPr b="1" lang="en-IN" sz="1100">
                <a:solidFill>
                  <a:schemeClr val="dk1"/>
                </a:solidFill>
              </a:rPr>
              <a:t>:</a:t>
            </a:r>
            <a:r>
              <a:rPr lang="en-IN" sz="1100">
                <a:solidFill>
                  <a:schemeClr val="dk1"/>
                </a:solidFill>
              </a:rPr>
              <a:t> </a:t>
            </a:r>
            <a:r>
              <a:rPr lang="en-IN" sz="1300">
                <a:solidFill>
                  <a:schemeClr val="dk1"/>
                </a:solidFill>
              </a:rPr>
              <a:t>Laptops </a:t>
            </a:r>
            <a:endParaRPr sz="15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IN" sz="1300">
                <a:solidFill>
                  <a:schemeClr val="dk1"/>
                </a:solidFill>
              </a:rPr>
              <a:t>Tools : Python, Requests, BeautifulSoup, Regular Expression, Pandas, Matplotlib, Seaborn</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IN" sz="1300">
                <a:solidFill>
                  <a:schemeClr val="dk1"/>
                </a:solidFill>
              </a:rPr>
              <a:t>Pages Scraped : 21+</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IN" sz="1300">
                <a:solidFill>
                  <a:schemeClr val="dk1"/>
                </a:solidFill>
              </a:rPr>
              <a:t>Attributes : Price, Brand, Processor type , RAM, OS, Screen size, Storage, Reviews, Ratings and Discount</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marR="0" rtl="0" algn="l">
              <a:lnSpc>
                <a:spcPct val="80000"/>
              </a:lnSpc>
              <a:spcBef>
                <a:spcPts val="1200"/>
              </a:spcBef>
              <a:spcAft>
                <a:spcPts val="0"/>
              </a:spcAft>
              <a:buClr>
                <a:srgbClr val="FF0000"/>
              </a:buClr>
              <a:buSzPts val="3200"/>
              <a:buFont typeface="Lato Black"/>
              <a:buNone/>
            </a:pPr>
            <a:r>
              <a:t/>
            </a:r>
            <a:endParaRPr sz="1800">
              <a:solidFill>
                <a:srgbClr val="FF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23"/>
                                        </p:tgtEl>
                                        <p:attrNameLst>
                                          <p:attrName>style.visibility</p:attrName>
                                        </p:attrNameLst>
                                      </p:cBhvr>
                                      <p:to>
                                        <p:strVal val="visible"/>
                                      </p:to>
                                    </p:set>
                                    <p:animEffect filter="fade" transition="in">
                                      <p:cBhvr>
                                        <p:cTn dur="500"/>
                                        <p:tgtEl>
                                          <p:spTgt spid="1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8"/>
          <p:cNvSpPr txBox="1"/>
          <p:nvPr/>
        </p:nvSpPr>
        <p:spPr>
          <a:xfrm>
            <a:off x="737812" y="1299172"/>
            <a:ext cx="7007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p:txBody>
      </p:sp>
      <p:sp>
        <p:nvSpPr>
          <p:cNvPr id="129" name="Google Shape;129;p18"/>
          <p:cNvSpPr txBox="1"/>
          <p:nvPr/>
        </p:nvSpPr>
        <p:spPr>
          <a:xfrm>
            <a:off x="406675" y="374600"/>
            <a:ext cx="11337900" cy="51579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b="1" lang="en-IN" sz="1700">
                <a:solidFill>
                  <a:srgbClr val="FF0000"/>
                </a:solidFill>
              </a:rPr>
              <a:t>DataSet Summary</a:t>
            </a:r>
            <a:endParaRPr b="1" sz="1700">
              <a:solidFill>
                <a:srgbClr val="FF0000"/>
              </a:solidFill>
            </a:endParaRPr>
          </a:p>
          <a:p>
            <a:pPr indent="-304800" lvl="0" marL="457200" rtl="0" algn="l">
              <a:lnSpc>
                <a:spcPct val="115000"/>
              </a:lnSpc>
              <a:spcBef>
                <a:spcPts val="1200"/>
              </a:spcBef>
              <a:spcAft>
                <a:spcPts val="0"/>
              </a:spcAft>
              <a:buClr>
                <a:schemeClr val="dk1"/>
              </a:buClr>
              <a:buSzPts val="1200"/>
              <a:buChar char="●"/>
            </a:pPr>
            <a:r>
              <a:rPr b="1" lang="en-IN" sz="1200">
                <a:solidFill>
                  <a:schemeClr val="dk1"/>
                </a:solidFill>
              </a:rPr>
              <a:t>Source:</a:t>
            </a:r>
            <a:r>
              <a:rPr lang="en-IN" sz="1200">
                <a:solidFill>
                  <a:schemeClr val="dk1"/>
                </a:solidFill>
              </a:rPr>
              <a:t> Flipkart Laptop Listings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IN" sz="1200">
                <a:solidFill>
                  <a:schemeClr val="dk1"/>
                </a:solidFill>
              </a:rPr>
              <a:t>Total Records:</a:t>
            </a:r>
            <a:r>
              <a:rPr lang="en-IN" sz="1200">
                <a:solidFill>
                  <a:schemeClr val="dk1"/>
                </a:solidFill>
              </a:rPr>
              <a:t> </a:t>
            </a:r>
            <a:r>
              <a:rPr b="1" lang="en-IN" sz="1200">
                <a:solidFill>
                  <a:schemeClr val="dk1"/>
                </a:solidFill>
              </a:rPr>
              <a:t>504 Laptops</a:t>
            </a:r>
            <a:endParaRPr b="1"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IN" sz="1200">
                <a:solidFill>
                  <a:schemeClr val="dk1"/>
                </a:solidFill>
              </a:rPr>
              <a:t>Total Features:</a:t>
            </a:r>
            <a:r>
              <a:rPr lang="en-IN" sz="1200">
                <a:solidFill>
                  <a:schemeClr val="dk1"/>
                </a:solidFill>
              </a:rPr>
              <a:t> </a:t>
            </a:r>
            <a:r>
              <a:rPr b="1" lang="en-IN" sz="1200">
                <a:solidFill>
                  <a:schemeClr val="dk1"/>
                </a:solidFill>
              </a:rPr>
              <a:t>13</a:t>
            </a:r>
            <a:r>
              <a:rPr lang="en-IN" sz="1200">
                <a:solidFill>
                  <a:schemeClr val="dk1"/>
                </a:solidFill>
              </a:rPr>
              <a:t> (excluding the index column)</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IN" sz="1200">
                <a:solidFill>
                  <a:schemeClr val="dk1"/>
                </a:solidFill>
              </a:rPr>
              <a:t>Domain:</a:t>
            </a:r>
            <a:r>
              <a:rPr lang="en-IN" sz="1200">
                <a:solidFill>
                  <a:schemeClr val="dk1"/>
                </a:solidFill>
              </a:rPr>
              <a:t> E-Commerce / Retail Analytics</a:t>
            </a:r>
            <a:endParaRPr sz="1200">
              <a:solidFill>
                <a:schemeClr val="dk1"/>
              </a:solidFill>
            </a:endParaRPr>
          </a:p>
          <a:p>
            <a:pPr indent="0" lvl="0" marL="0" rtl="0" algn="l">
              <a:lnSpc>
                <a:spcPct val="115000"/>
              </a:lnSpc>
              <a:spcBef>
                <a:spcPts val="1200"/>
              </a:spcBef>
              <a:spcAft>
                <a:spcPts val="0"/>
              </a:spcAft>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marR="0" rtl="0" algn="l">
              <a:lnSpc>
                <a:spcPct val="80000"/>
              </a:lnSpc>
              <a:spcBef>
                <a:spcPts val="1200"/>
              </a:spcBef>
              <a:spcAft>
                <a:spcPts val="0"/>
              </a:spcAft>
              <a:buClr>
                <a:srgbClr val="FF0000"/>
              </a:buClr>
              <a:buSzPts val="3200"/>
              <a:buFont typeface="Lato Black"/>
              <a:buNone/>
            </a:pPr>
            <a:r>
              <a:t/>
            </a:r>
            <a:endParaRPr sz="1800">
              <a:solidFill>
                <a:srgbClr val="FF0000"/>
              </a:solidFill>
              <a:latin typeface="Calibri"/>
              <a:ea typeface="Calibri"/>
              <a:cs typeface="Calibri"/>
              <a:sym typeface="Calibri"/>
            </a:endParaRPr>
          </a:p>
        </p:txBody>
      </p:sp>
      <p:pic>
        <p:nvPicPr>
          <p:cNvPr id="130" name="Google Shape;130;p18" title="EDA1.png"/>
          <p:cNvPicPr preferRelativeResize="0"/>
          <p:nvPr/>
        </p:nvPicPr>
        <p:blipFill>
          <a:blip r:embed="rId3">
            <a:alphaModFix/>
          </a:blip>
          <a:stretch>
            <a:fillRect/>
          </a:stretch>
        </p:blipFill>
        <p:spPr>
          <a:xfrm>
            <a:off x="493125" y="1995700"/>
            <a:ext cx="10534650" cy="3390900"/>
          </a:xfrm>
          <a:prstGeom prst="rect">
            <a:avLst/>
          </a:prstGeom>
          <a:noFill/>
          <a:ln>
            <a:noFill/>
          </a:ln>
        </p:spPr>
      </p:pic>
      <p:graphicFrame>
        <p:nvGraphicFramePr>
          <p:cNvPr id="131" name="Google Shape;131;p18"/>
          <p:cNvGraphicFramePr/>
          <p:nvPr/>
        </p:nvGraphicFramePr>
        <p:xfrm>
          <a:off x="616950" y="1890825"/>
          <a:ext cx="3000000" cy="3000000"/>
        </p:xfrm>
        <a:graphic>
          <a:graphicData uri="http://schemas.openxmlformats.org/drawingml/2006/table">
            <a:tbl>
              <a:tblPr>
                <a:noFill/>
                <a:tableStyleId>{6980564A-8B44-4F62-9D78-B8790BB7284B}</a:tableStyleId>
              </a:tblPr>
              <a:tblGrid>
                <a:gridCol w="10287000"/>
              </a:tblGrid>
              <a:tr h="3762275">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500"/>
                                        <p:tgtEl>
                                          <p:spTgt spid="1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9"/>
          <p:cNvSpPr txBox="1"/>
          <p:nvPr/>
        </p:nvSpPr>
        <p:spPr>
          <a:xfrm>
            <a:off x="737812" y="1299172"/>
            <a:ext cx="7007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p:txBody>
      </p:sp>
      <p:sp>
        <p:nvSpPr>
          <p:cNvPr id="137" name="Google Shape;137;p19"/>
          <p:cNvSpPr txBox="1"/>
          <p:nvPr/>
        </p:nvSpPr>
        <p:spPr>
          <a:xfrm>
            <a:off x="406675" y="374600"/>
            <a:ext cx="11337900" cy="7190100"/>
          </a:xfrm>
          <a:prstGeom prst="rect">
            <a:avLst/>
          </a:prstGeom>
          <a:noFill/>
          <a:ln>
            <a:noFill/>
          </a:ln>
        </p:spPr>
        <p:txBody>
          <a:bodyPr anchorCtr="0" anchor="t" bIns="45700" lIns="91425" spcFirstLastPara="1" rIns="91425" wrap="square" tIns="45700">
            <a:spAutoFit/>
          </a:bodyPr>
          <a:lstStyle/>
          <a:p>
            <a:pPr indent="0" lvl="0" marL="0" rtl="0" algn="l">
              <a:lnSpc>
                <a:spcPct val="90000"/>
              </a:lnSpc>
              <a:spcBef>
                <a:spcPts val="1000"/>
              </a:spcBef>
              <a:spcAft>
                <a:spcPts val="0"/>
              </a:spcAft>
              <a:buNone/>
            </a:pPr>
            <a:r>
              <a:rPr b="1" lang="en-IN" sz="2800">
                <a:solidFill>
                  <a:srgbClr val="FF0000"/>
                </a:solidFill>
                <a:latin typeface="Calibri"/>
                <a:ea typeface="Calibri"/>
                <a:cs typeface="Calibri"/>
                <a:sym typeface="Calibri"/>
              </a:rPr>
              <a:t>Exploratory Data Analysis: </a:t>
            </a:r>
            <a:endParaRPr sz="2800">
              <a:solidFill>
                <a:schemeClr val="dk1"/>
              </a:solidFill>
              <a:latin typeface="Calibri"/>
              <a:ea typeface="Calibri"/>
              <a:cs typeface="Calibri"/>
              <a:sym typeface="Calibri"/>
            </a:endParaRPr>
          </a:p>
          <a:p>
            <a:pPr indent="0" lvl="0" marL="0" rtl="0" algn="l">
              <a:lnSpc>
                <a:spcPct val="115000"/>
              </a:lnSpc>
              <a:spcBef>
                <a:spcPts val="1400"/>
              </a:spcBef>
              <a:spcAft>
                <a:spcPts val="0"/>
              </a:spcAft>
              <a:buClr>
                <a:schemeClr val="dk1"/>
              </a:buClr>
              <a:buSzPts val="1100"/>
              <a:buFont typeface="Arial"/>
              <a:buNone/>
            </a:pPr>
            <a:r>
              <a:rPr b="1" lang="en-IN" sz="1300">
                <a:solidFill>
                  <a:schemeClr val="dk1"/>
                </a:solidFill>
              </a:rPr>
              <a:t>1. Data Cleaning Steps</a:t>
            </a:r>
            <a:endParaRPr b="1" sz="1300">
              <a:solidFill>
                <a:schemeClr val="dk1"/>
              </a:solidFill>
            </a:endParaRPr>
          </a:p>
          <a:p>
            <a:pPr indent="-304800" lvl="0" marL="457200" rtl="0" algn="l">
              <a:lnSpc>
                <a:spcPct val="150000"/>
              </a:lnSpc>
              <a:spcBef>
                <a:spcPts val="1200"/>
              </a:spcBef>
              <a:spcAft>
                <a:spcPts val="0"/>
              </a:spcAft>
              <a:buClr>
                <a:schemeClr val="dk1"/>
              </a:buClr>
              <a:buSzPts val="1200"/>
              <a:buChar char="●"/>
            </a:pPr>
            <a:r>
              <a:rPr lang="en-IN" sz="1200">
                <a:solidFill>
                  <a:schemeClr val="dk1"/>
                </a:solidFill>
              </a:rPr>
              <a:t>Removed special characters and converted columns such as </a:t>
            </a:r>
            <a:r>
              <a:rPr b="1" lang="en-IN" sz="1200">
                <a:solidFill>
                  <a:schemeClr val="dk1"/>
                </a:solidFill>
              </a:rPr>
              <a:t>Price, RAM, Storage Capacity </a:t>
            </a:r>
            <a:r>
              <a:rPr lang="en-IN" sz="1200">
                <a:solidFill>
                  <a:schemeClr val="dk1"/>
                </a:solidFill>
              </a:rPr>
              <a:t>into appropriate numeric data types.</a:t>
            </a:r>
            <a:endParaRPr sz="1200">
              <a:solidFill>
                <a:schemeClr val="dk1"/>
              </a:solidFill>
            </a:endParaRPr>
          </a:p>
          <a:p>
            <a:pPr indent="-304800" lvl="0" marL="457200" rtl="0" algn="l">
              <a:lnSpc>
                <a:spcPct val="150000"/>
              </a:lnSpc>
              <a:spcBef>
                <a:spcPts val="0"/>
              </a:spcBef>
              <a:spcAft>
                <a:spcPts val="0"/>
              </a:spcAft>
              <a:buClr>
                <a:schemeClr val="dk1"/>
              </a:buClr>
              <a:buSzPts val="1200"/>
              <a:buChar char="●"/>
            </a:pPr>
            <a:r>
              <a:rPr lang="en-IN" sz="1200">
                <a:solidFill>
                  <a:schemeClr val="dk1"/>
                </a:solidFill>
              </a:rPr>
              <a:t>Handled missing values using </a:t>
            </a:r>
            <a:r>
              <a:rPr b="1" lang="en-IN" sz="1200">
                <a:solidFill>
                  <a:schemeClr val="dk1"/>
                </a:solidFill>
              </a:rPr>
              <a:t>median</a:t>
            </a:r>
            <a:r>
              <a:rPr lang="en-IN" sz="1200">
                <a:solidFill>
                  <a:schemeClr val="dk1"/>
                </a:solidFill>
              </a:rPr>
              <a:t> for numerical features such as </a:t>
            </a:r>
            <a:r>
              <a:rPr b="1" lang="en-IN" sz="1200">
                <a:solidFill>
                  <a:schemeClr val="dk1"/>
                </a:solidFill>
              </a:rPr>
              <a:t>Storage Capacity, Ratings Count, Review Count, Discount Percentage </a:t>
            </a:r>
            <a:r>
              <a:rPr lang="en-IN" sz="1200">
                <a:solidFill>
                  <a:schemeClr val="dk1"/>
                </a:solidFill>
              </a:rPr>
              <a:t>and checked for duplicate records.</a:t>
            </a:r>
            <a:endParaRPr sz="1200">
              <a:solidFill>
                <a:schemeClr val="dk1"/>
              </a:solidFill>
            </a:endParaRPr>
          </a:p>
          <a:p>
            <a:pPr indent="0" lvl="0" marL="0" rtl="0" algn="l">
              <a:lnSpc>
                <a:spcPct val="115000"/>
              </a:lnSpc>
              <a:spcBef>
                <a:spcPts val="1200"/>
              </a:spcBef>
              <a:spcAft>
                <a:spcPts val="0"/>
              </a:spcAft>
              <a:buNone/>
            </a:pPr>
            <a:r>
              <a:t/>
            </a:r>
            <a:endParaRPr sz="1200">
              <a:solidFill>
                <a:schemeClr val="dk1"/>
              </a:solidFill>
            </a:endParaRPr>
          </a:p>
          <a:p>
            <a:pPr indent="0" lvl="0" marL="0" rtl="0" algn="l">
              <a:lnSpc>
                <a:spcPct val="115000"/>
              </a:lnSpc>
              <a:spcBef>
                <a:spcPts val="1200"/>
              </a:spcBef>
              <a:spcAft>
                <a:spcPts val="0"/>
              </a:spcAft>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b="1" sz="1700">
              <a:solidFill>
                <a:srgbClr val="FF0000"/>
              </a:solidFill>
            </a:endParaRPr>
          </a:p>
          <a:p>
            <a:pPr indent="0" lvl="0" marL="457200" rtl="0" algn="l">
              <a:lnSpc>
                <a:spcPct val="115000"/>
              </a:lnSpc>
              <a:spcBef>
                <a:spcPts val="1200"/>
              </a:spcBef>
              <a:spcAft>
                <a:spcPts val="0"/>
              </a:spcAft>
              <a:buNone/>
            </a:pPr>
            <a:r>
              <a:t/>
            </a:r>
            <a:endParaRPr sz="1200">
              <a:solidFill>
                <a:schemeClr val="dk1"/>
              </a:solidFill>
            </a:endParaRPr>
          </a:p>
          <a:p>
            <a:pPr indent="0" lvl="0" marL="0" rtl="0" algn="l">
              <a:lnSpc>
                <a:spcPct val="115000"/>
              </a:lnSpc>
              <a:spcBef>
                <a:spcPts val="1200"/>
              </a:spcBef>
              <a:spcAft>
                <a:spcPts val="0"/>
              </a:spcAft>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marR="0" rtl="0" algn="l">
              <a:lnSpc>
                <a:spcPct val="80000"/>
              </a:lnSpc>
              <a:spcBef>
                <a:spcPts val="1200"/>
              </a:spcBef>
              <a:spcAft>
                <a:spcPts val="0"/>
              </a:spcAft>
              <a:buClr>
                <a:srgbClr val="FF0000"/>
              </a:buClr>
              <a:buSzPts val="3200"/>
              <a:buFont typeface="Lato Black"/>
              <a:buNone/>
            </a:pPr>
            <a:r>
              <a:t/>
            </a:r>
            <a:endParaRPr sz="1800">
              <a:solidFill>
                <a:srgbClr val="FF0000"/>
              </a:solidFill>
              <a:latin typeface="Calibri"/>
              <a:ea typeface="Calibri"/>
              <a:cs typeface="Calibri"/>
              <a:sym typeface="Calibri"/>
            </a:endParaRPr>
          </a:p>
        </p:txBody>
      </p:sp>
      <p:pic>
        <p:nvPicPr>
          <p:cNvPr id="138" name="Google Shape;138;p19" title="EDA3.png"/>
          <p:cNvPicPr preferRelativeResize="0"/>
          <p:nvPr/>
        </p:nvPicPr>
        <p:blipFill>
          <a:blip r:embed="rId3">
            <a:alphaModFix/>
          </a:blip>
          <a:stretch>
            <a:fillRect/>
          </a:stretch>
        </p:blipFill>
        <p:spPr>
          <a:xfrm>
            <a:off x="1115125" y="2175800"/>
            <a:ext cx="2495550" cy="3219450"/>
          </a:xfrm>
          <a:prstGeom prst="rect">
            <a:avLst/>
          </a:prstGeom>
          <a:noFill/>
          <a:ln>
            <a:noFill/>
          </a:ln>
        </p:spPr>
      </p:pic>
      <p:graphicFrame>
        <p:nvGraphicFramePr>
          <p:cNvPr id="139" name="Google Shape;139;p19"/>
          <p:cNvGraphicFramePr/>
          <p:nvPr/>
        </p:nvGraphicFramePr>
        <p:xfrm>
          <a:off x="1010075" y="2175800"/>
          <a:ext cx="3000000" cy="3000000"/>
        </p:xfrm>
        <a:graphic>
          <a:graphicData uri="http://schemas.openxmlformats.org/drawingml/2006/table">
            <a:tbl>
              <a:tblPr>
                <a:noFill/>
                <a:tableStyleId>{6980564A-8B44-4F62-9D78-B8790BB7284B}</a:tableStyleId>
              </a:tblPr>
              <a:tblGrid>
                <a:gridCol w="2600600"/>
              </a:tblGrid>
              <a:tr h="3219450">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140" name="Google Shape;140;p19"/>
          <p:cNvSpPr txBox="1"/>
          <p:nvPr/>
        </p:nvSpPr>
        <p:spPr>
          <a:xfrm>
            <a:off x="4729300" y="2175800"/>
            <a:ext cx="6627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pic>
        <p:nvPicPr>
          <p:cNvPr id="141" name="Google Shape;141;p19" title="EDA4.png"/>
          <p:cNvPicPr preferRelativeResize="0"/>
          <p:nvPr/>
        </p:nvPicPr>
        <p:blipFill>
          <a:blip r:embed="rId4">
            <a:alphaModFix/>
          </a:blip>
          <a:stretch>
            <a:fillRect/>
          </a:stretch>
        </p:blipFill>
        <p:spPr>
          <a:xfrm>
            <a:off x="5762275" y="2236126"/>
            <a:ext cx="4400550" cy="2744850"/>
          </a:xfrm>
          <a:prstGeom prst="rect">
            <a:avLst/>
          </a:prstGeom>
          <a:noFill/>
          <a:ln>
            <a:noFill/>
          </a:ln>
        </p:spPr>
      </p:pic>
      <p:graphicFrame>
        <p:nvGraphicFramePr>
          <p:cNvPr id="142" name="Google Shape;142;p19"/>
          <p:cNvGraphicFramePr/>
          <p:nvPr/>
        </p:nvGraphicFramePr>
        <p:xfrm>
          <a:off x="5762275" y="2162588"/>
          <a:ext cx="3000000" cy="3000000"/>
        </p:xfrm>
        <a:graphic>
          <a:graphicData uri="http://schemas.openxmlformats.org/drawingml/2006/table">
            <a:tbl>
              <a:tblPr>
                <a:noFill/>
                <a:tableStyleId>{6980564A-8B44-4F62-9D78-B8790BB7284B}</a:tableStyleId>
              </a:tblPr>
              <a:tblGrid>
                <a:gridCol w="4400550"/>
              </a:tblGrid>
              <a:tr h="2891925">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37"/>
                                        </p:tgtEl>
                                        <p:attrNameLst>
                                          <p:attrName>style.visibility</p:attrName>
                                        </p:attrNameLst>
                                      </p:cBhvr>
                                      <p:to>
                                        <p:strVal val="visible"/>
                                      </p:to>
                                    </p:set>
                                    <p:animEffect filter="fade" transition="in">
                                      <p:cBhvr>
                                        <p:cTn dur="500"/>
                                        <p:tgtEl>
                                          <p:spTgt spid="1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0"/>
          <p:cNvSpPr txBox="1"/>
          <p:nvPr/>
        </p:nvSpPr>
        <p:spPr>
          <a:xfrm>
            <a:off x="737812" y="1299172"/>
            <a:ext cx="7007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p:txBody>
      </p:sp>
      <p:sp>
        <p:nvSpPr>
          <p:cNvPr id="148" name="Google Shape;148;p20"/>
          <p:cNvSpPr txBox="1"/>
          <p:nvPr/>
        </p:nvSpPr>
        <p:spPr>
          <a:xfrm>
            <a:off x="406675" y="374600"/>
            <a:ext cx="11337900" cy="7882200"/>
          </a:xfrm>
          <a:prstGeom prst="rect">
            <a:avLst/>
          </a:prstGeom>
          <a:noFill/>
          <a:ln>
            <a:noFill/>
          </a:ln>
        </p:spPr>
        <p:txBody>
          <a:bodyPr anchorCtr="0" anchor="t" bIns="45700" lIns="91425" spcFirstLastPara="1" rIns="91425" wrap="square" tIns="45700">
            <a:spAutoFit/>
          </a:bodyPr>
          <a:lstStyle/>
          <a:p>
            <a:pPr indent="0" lvl="0" marL="0" rtl="0" algn="l">
              <a:lnSpc>
                <a:spcPct val="90000"/>
              </a:lnSpc>
              <a:spcBef>
                <a:spcPts val="1000"/>
              </a:spcBef>
              <a:spcAft>
                <a:spcPts val="0"/>
              </a:spcAft>
              <a:buNone/>
            </a:pPr>
            <a:r>
              <a:rPr b="1" lang="en-IN" sz="2800">
                <a:solidFill>
                  <a:srgbClr val="FF0000"/>
                </a:solidFill>
                <a:latin typeface="Calibri"/>
                <a:ea typeface="Calibri"/>
                <a:cs typeface="Calibri"/>
                <a:sym typeface="Calibri"/>
              </a:rPr>
              <a:t>Exploratory Data Analysis: </a:t>
            </a:r>
            <a:endParaRPr sz="2800">
              <a:solidFill>
                <a:schemeClr val="dk1"/>
              </a:solidFill>
              <a:latin typeface="Calibri"/>
              <a:ea typeface="Calibri"/>
              <a:cs typeface="Calibri"/>
              <a:sym typeface="Calibri"/>
            </a:endParaRPr>
          </a:p>
          <a:p>
            <a:pPr indent="0" lvl="0" marL="0" rtl="0" algn="l">
              <a:lnSpc>
                <a:spcPct val="115000"/>
              </a:lnSpc>
              <a:spcBef>
                <a:spcPts val="1400"/>
              </a:spcBef>
              <a:spcAft>
                <a:spcPts val="0"/>
              </a:spcAft>
              <a:buClr>
                <a:schemeClr val="dk1"/>
              </a:buClr>
              <a:buSzPts val="1100"/>
              <a:buFont typeface="Arial"/>
              <a:buNone/>
            </a:pPr>
            <a:r>
              <a:rPr b="1" lang="en-IN" sz="1300">
                <a:solidFill>
                  <a:schemeClr val="dk1"/>
                </a:solidFill>
              </a:rPr>
              <a:t>   2. Data Manipulation Steps</a:t>
            </a:r>
            <a:endParaRPr b="1" sz="1300">
              <a:solidFill>
                <a:schemeClr val="dk1"/>
              </a:solidFill>
            </a:endParaRPr>
          </a:p>
          <a:p>
            <a:pPr indent="-304800" lvl="0" marL="457200" rtl="0" algn="l">
              <a:lnSpc>
                <a:spcPct val="150000"/>
              </a:lnSpc>
              <a:spcBef>
                <a:spcPts val="1200"/>
              </a:spcBef>
              <a:spcAft>
                <a:spcPts val="0"/>
              </a:spcAft>
              <a:buClr>
                <a:schemeClr val="dk1"/>
              </a:buClr>
              <a:buSzPts val="1200"/>
              <a:buChar char="●"/>
            </a:pPr>
            <a:r>
              <a:rPr lang="en-IN" sz="1200">
                <a:solidFill>
                  <a:schemeClr val="dk1"/>
                </a:solidFill>
              </a:rPr>
              <a:t>Extracted meaningful information (Brand, Processor Type, RAM, Storage, Screen Size, etc.) from the scraped data using </a:t>
            </a:r>
            <a:r>
              <a:rPr b="1" lang="en-IN" sz="1200">
                <a:solidFill>
                  <a:schemeClr val="dk1"/>
                </a:solidFill>
              </a:rPr>
              <a:t>Regular Expressions (Regex)</a:t>
            </a:r>
            <a:r>
              <a:rPr lang="en-IN" sz="1200">
                <a:solidFill>
                  <a:schemeClr val="dk1"/>
                </a:solidFill>
              </a:rPr>
              <a:t>.</a:t>
            </a:r>
            <a:endParaRPr sz="1200">
              <a:solidFill>
                <a:schemeClr val="dk1"/>
              </a:solidFill>
            </a:endParaRPr>
          </a:p>
          <a:p>
            <a:pPr indent="-298450" lvl="0" marL="457200" rtl="0" algn="l">
              <a:lnSpc>
                <a:spcPct val="150000"/>
              </a:lnSpc>
              <a:spcBef>
                <a:spcPts val="0"/>
              </a:spcBef>
              <a:spcAft>
                <a:spcPts val="0"/>
              </a:spcAft>
              <a:buClr>
                <a:schemeClr val="dk1"/>
              </a:buClr>
              <a:buSzPts val="1100"/>
              <a:buChar char="●"/>
            </a:pPr>
            <a:r>
              <a:rPr lang="en-IN" sz="1200">
                <a:solidFill>
                  <a:schemeClr val="dk1"/>
                </a:solidFill>
              </a:rPr>
              <a:t>Created a structured </a:t>
            </a:r>
            <a:r>
              <a:rPr b="1" lang="en-IN" sz="1200">
                <a:solidFill>
                  <a:schemeClr val="dk1"/>
                </a:solidFill>
              </a:rPr>
              <a:t>Pandas DataFrame</a:t>
            </a:r>
            <a:r>
              <a:rPr lang="en-IN" sz="1200">
                <a:solidFill>
                  <a:schemeClr val="dk1"/>
                </a:solidFill>
              </a:rPr>
              <a:t>, standardized column names, and formatted data for analysis and visualization</a:t>
            </a:r>
            <a:r>
              <a:rPr lang="en-IN" sz="1100">
                <a:solidFill>
                  <a:schemeClr val="dk1"/>
                </a:solidFill>
              </a:rPr>
              <a:t>.</a:t>
            </a:r>
            <a:endParaRPr sz="1100">
              <a:solidFill>
                <a:schemeClr val="dk1"/>
              </a:solidFill>
            </a:endParaRPr>
          </a:p>
          <a:p>
            <a:pPr indent="-304800" lvl="0" marL="457200" rtl="0" algn="l">
              <a:lnSpc>
                <a:spcPct val="150000"/>
              </a:lnSpc>
              <a:spcBef>
                <a:spcPts val="0"/>
              </a:spcBef>
              <a:spcAft>
                <a:spcPts val="0"/>
              </a:spcAft>
              <a:buClr>
                <a:schemeClr val="dk1"/>
              </a:buClr>
              <a:buSzPts val="1200"/>
              <a:buChar char="●"/>
            </a:pPr>
            <a:r>
              <a:rPr lang="en-IN" sz="1200">
                <a:solidFill>
                  <a:schemeClr val="dk1"/>
                </a:solidFill>
              </a:rPr>
              <a:t>Checked and treated outliers :</a:t>
            </a:r>
            <a:r>
              <a:rPr lang="en-IN" sz="1300">
                <a:solidFill>
                  <a:schemeClr val="dk1"/>
                </a:solidFill>
              </a:rPr>
              <a:t> </a:t>
            </a:r>
            <a:r>
              <a:rPr lang="en-IN" sz="1150">
                <a:solidFill>
                  <a:schemeClr val="dk1"/>
                </a:solidFill>
                <a:highlight>
                  <a:srgbClr val="FFFFFF"/>
                </a:highlight>
              </a:rPr>
              <a:t>For Laptop brand-wise and price analysis problem statement, expensive gaming laptops and premium laptops are real observations, not errors.</a:t>
            </a:r>
            <a:r>
              <a:rPr lang="en-IN" sz="1200">
                <a:solidFill>
                  <a:schemeClr val="dk1"/>
                </a:solidFill>
              </a:rPr>
              <a:t> </a:t>
            </a:r>
            <a:endParaRPr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200">
              <a:solidFill>
                <a:schemeClr val="dk1"/>
              </a:solidFill>
            </a:endParaRPr>
          </a:p>
          <a:p>
            <a:pPr indent="0" lvl="0" marL="0" rtl="0" algn="l">
              <a:lnSpc>
                <a:spcPct val="115000"/>
              </a:lnSpc>
              <a:spcBef>
                <a:spcPts val="1200"/>
              </a:spcBef>
              <a:spcAft>
                <a:spcPts val="0"/>
              </a:spcAft>
              <a:buNone/>
            </a:pPr>
            <a:r>
              <a:t/>
            </a:r>
            <a:endParaRPr sz="1200">
              <a:solidFill>
                <a:schemeClr val="dk1"/>
              </a:solidFill>
            </a:endParaRPr>
          </a:p>
          <a:p>
            <a:pPr indent="0" lvl="0" marL="0" rtl="0" algn="l">
              <a:lnSpc>
                <a:spcPct val="115000"/>
              </a:lnSpc>
              <a:spcBef>
                <a:spcPts val="1200"/>
              </a:spcBef>
              <a:spcAft>
                <a:spcPts val="0"/>
              </a:spcAft>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b="1" sz="1700">
              <a:solidFill>
                <a:srgbClr val="FF0000"/>
              </a:solidFill>
            </a:endParaRPr>
          </a:p>
          <a:p>
            <a:pPr indent="0" lvl="0" marL="457200" rtl="0" algn="l">
              <a:lnSpc>
                <a:spcPct val="115000"/>
              </a:lnSpc>
              <a:spcBef>
                <a:spcPts val="1200"/>
              </a:spcBef>
              <a:spcAft>
                <a:spcPts val="0"/>
              </a:spcAft>
              <a:buNone/>
            </a:pPr>
            <a:r>
              <a:t/>
            </a:r>
            <a:endParaRPr sz="1200">
              <a:solidFill>
                <a:schemeClr val="dk1"/>
              </a:solidFill>
            </a:endParaRPr>
          </a:p>
          <a:p>
            <a:pPr indent="0" lvl="0" marL="0" rtl="0" algn="l">
              <a:lnSpc>
                <a:spcPct val="115000"/>
              </a:lnSpc>
              <a:spcBef>
                <a:spcPts val="1200"/>
              </a:spcBef>
              <a:spcAft>
                <a:spcPts val="0"/>
              </a:spcAft>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marR="0" rtl="0" algn="l">
              <a:lnSpc>
                <a:spcPct val="80000"/>
              </a:lnSpc>
              <a:spcBef>
                <a:spcPts val="1200"/>
              </a:spcBef>
              <a:spcAft>
                <a:spcPts val="0"/>
              </a:spcAft>
              <a:buClr>
                <a:srgbClr val="FF0000"/>
              </a:buClr>
              <a:buSzPts val="3200"/>
              <a:buFont typeface="Lato Black"/>
              <a:buNone/>
            </a:pPr>
            <a:r>
              <a:t/>
            </a:r>
            <a:endParaRPr sz="1800">
              <a:solidFill>
                <a:srgbClr val="FF0000"/>
              </a:solidFill>
              <a:latin typeface="Calibri"/>
              <a:ea typeface="Calibri"/>
              <a:cs typeface="Calibri"/>
              <a:sym typeface="Calibri"/>
            </a:endParaRPr>
          </a:p>
        </p:txBody>
      </p:sp>
      <p:sp>
        <p:nvSpPr>
          <p:cNvPr id="149" name="Google Shape;149;p20"/>
          <p:cNvSpPr txBox="1"/>
          <p:nvPr/>
        </p:nvSpPr>
        <p:spPr>
          <a:xfrm>
            <a:off x="5277025" y="2637200"/>
            <a:ext cx="6627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pic>
        <p:nvPicPr>
          <p:cNvPr id="150" name="Google Shape;150;p20" title="EDA5.png"/>
          <p:cNvPicPr preferRelativeResize="0"/>
          <p:nvPr/>
        </p:nvPicPr>
        <p:blipFill>
          <a:blip r:embed="rId3">
            <a:alphaModFix/>
          </a:blip>
          <a:stretch>
            <a:fillRect/>
          </a:stretch>
        </p:blipFill>
        <p:spPr>
          <a:xfrm>
            <a:off x="476425" y="2386000"/>
            <a:ext cx="4800600" cy="2085975"/>
          </a:xfrm>
          <a:prstGeom prst="rect">
            <a:avLst/>
          </a:prstGeom>
          <a:noFill/>
          <a:ln>
            <a:noFill/>
          </a:ln>
        </p:spPr>
      </p:pic>
      <p:pic>
        <p:nvPicPr>
          <p:cNvPr id="151" name="Google Shape;151;p20" title="EDA6.png"/>
          <p:cNvPicPr preferRelativeResize="0"/>
          <p:nvPr/>
        </p:nvPicPr>
        <p:blipFill>
          <a:blip r:embed="rId4">
            <a:alphaModFix/>
          </a:blip>
          <a:stretch>
            <a:fillRect/>
          </a:stretch>
        </p:blipFill>
        <p:spPr>
          <a:xfrm>
            <a:off x="5421375" y="2244050"/>
            <a:ext cx="6249801" cy="3670200"/>
          </a:xfrm>
          <a:prstGeom prst="rect">
            <a:avLst/>
          </a:prstGeom>
          <a:noFill/>
          <a:ln>
            <a:noFill/>
          </a:ln>
        </p:spPr>
      </p:pic>
      <p:graphicFrame>
        <p:nvGraphicFramePr>
          <p:cNvPr id="152" name="Google Shape;152;p20"/>
          <p:cNvGraphicFramePr/>
          <p:nvPr/>
        </p:nvGraphicFramePr>
        <p:xfrm>
          <a:off x="5421375" y="2191625"/>
          <a:ext cx="3000000" cy="3000000"/>
        </p:xfrm>
        <a:graphic>
          <a:graphicData uri="http://schemas.openxmlformats.org/drawingml/2006/table">
            <a:tbl>
              <a:tblPr>
                <a:noFill/>
                <a:tableStyleId>{6980564A-8B44-4F62-9D78-B8790BB7284B}</a:tableStyleId>
              </a:tblPr>
              <a:tblGrid>
                <a:gridCol w="6186900"/>
              </a:tblGrid>
              <a:tr h="3510625">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48"/>
                                        </p:tgtEl>
                                        <p:attrNameLst>
                                          <p:attrName>style.visibility</p:attrName>
                                        </p:attrNameLst>
                                      </p:cBhvr>
                                      <p:to>
                                        <p:strVal val="visible"/>
                                      </p:to>
                                    </p:set>
                                    <p:animEffect filter="fade" transition="in">
                                      <p:cBhvr>
                                        <p:cTn dur="500"/>
                                        <p:tgtEl>
                                          <p:spTgt spid="1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1"/>
          <p:cNvSpPr txBox="1"/>
          <p:nvPr/>
        </p:nvSpPr>
        <p:spPr>
          <a:xfrm>
            <a:off x="737812" y="1299172"/>
            <a:ext cx="7007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p:txBody>
      </p:sp>
      <p:sp>
        <p:nvSpPr>
          <p:cNvPr id="158" name="Google Shape;158;p21"/>
          <p:cNvSpPr txBox="1"/>
          <p:nvPr/>
        </p:nvSpPr>
        <p:spPr>
          <a:xfrm>
            <a:off x="406675" y="374600"/>
            <a:ext cx="11337900" cy="8423100"/>
          </a:xfrm>
          <a:prstGeom prst="rect">
            <a:avLst/>
          </a:prstGeom>
          <a:noFill/>
          <a:ln>
            <a:noFill/>
          </a:ln>
        </p:spPr>
        <p:txBody>
          <a:bodyPr anchorCtr="0" anchor="t" bIns="45700" lIns="91425" spcFirstLastPara="1" rIns="91425" wrap="square" tIns="45700">
            <a:spAutoFit/>
          </a:bodyPr>
          <a:lstStyle/>
          <a:p>
            <a:pPr indent="0" lvl="0" marL="0" rtl="0" algn="l">
              <a:lnSpc>
                <a:spcPct val="90000"/>
              </a:lnSpc>
              <a:spcBef>
                <a:spcPts val="1000"/>
              </a:spcBef>
              <a:spcAft>
                <a:spcPts val="0"/>
              </a:spcAft>
              <a:buNone/>
            </a:pPr>
            <a:r>
              <a:rPr b="1" lang="en-IN" sz="2800">
                <a:solidFill>
                  <a:srgbClr val="FF0000"/>
                </a:solidFill>
                <a:latin typeface="Calibri"/>
                <a:ea typeface="Calibri"/>
                <a:cs typeface="Calibri"/>
                <a:sym typeface="Calibri"/>
              </a:rPr>
              <a:t>Exploratory Data Analysis: </a:t>
            </a:r>
            <a:endParaRPr sz="2800">
              <a:solidFill>
                <a:schemeClr val="dk1"/>
              </a:solidFill>
              <a:latin typeface="Calibri"/>
              <a:ea typeface="Calibri"/>
              <a:cs typeface="Calibri"/>
              <a:sym typeface="Calibri"/>
            </a:endParaRPr>
          </a:p>
          <a:p>
            <a:pPr indent="0" lvl="0" marL="0" rtl="0" algn="l">
              <a:lnSpc>
                <a:spcPct val="115000"/>
              </a:lnSpc>
              <a:spcBef>
                <a:spcPts val="1400"/>
              </a:spcBef>
              <a:spcAft>
                <a:spcPts val="0"/>
              </a:spcAft>
              <a:buClr>
                <a:schemeClr val="dk1"/>
              </a:buClr>
              <a:buSzPts val="1100"/>
              <a:buFont typeface="Arial"/>
              <a:buNone/>
            </a:pPr>
            <a:r>
              <a:rPr b="1" lang="en-IN" sz="1300">
                <a:solidFill>
                  <a:schemeClr val="dk1"/>
                </a:solidFill>
              </a:rPr>
              <a:t>3. Univariate Analysis Steps </a:t>
            </a:r>
            <a:r>
              <a:rPr b="1" lang="en-IN" sz="1300">
                <a:solidFill>
                  <a:schemeClr val="dk1"/>
                </a:solidFill>
              </a:rPr>
              <a:t>(Numerical Features)</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IN" sz="1300">
                <a:solidFill>
                  <a:schemeClr val="dk1"/>
                </a:solidFill>
              </a:rPr>
              <a:t>- Most laptops are concentrated in the ₹30,000–₹60,000 range.</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marR="0" rtl="0" algn="l">
              <a:lnSpc>
                <a:spcPct val="80000"/>
              </a:lnSpc>
              <a:spcBef>
                <a:spcPts val="1200"/>
              </a:spcBef>
              <a:spcAft>
                <a:spcPts val="0"/>
              </a:spcAft>
              <a:buClr>
                <a:srgbClr val="FF0000"/>
              </a:buClr>
              <a:buSzPts val="3200"/>
              <a:buFont typeface="Lato Black"/>
              <a:buNone/>
            </a:pPr>
            <a:r>
              <a:t/>
            </a:r>
            <a:endParaRPr sz="1800">
              <a:solidFill>
                <a:srgbClr val="FF0000"/>
              </a:solidFill>
              <a:latin typeface="Calibri"/>
              <a:ea typeface="Calibri"/>
              <a:cs typeface="Calibri"/>
              <a:sym typeface="Calibri"/>
            </a:endParaRPr>
          </a:p>
        </p:txBody>
      </p:sp>
      <p:sp>
        <p:nvSpPr>
          <p:cNvPr id="159" name="Google Shape;159;p21"/>
          <p:cNvSpPr txBox="1"/>
          <p:nvPr/>
        </p:nvSpPr>
        <p:spPr>
          <a:xfrm>
            <a:off x="5402875" y="1668475"/>
            <a:ext cx="6627300" cy="794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IN" sz="1300">
                <a:solidFill>
                  <a:schemeClr val="dk1"/>
                </a:solidFill>
              </a:rPr>
              <a:t>                                       </a:t>
            </a:r>
            <a:r>
              <a:rPr b="1" lang="en-IN" sz="1300">
                <a:solidFill>
                  <a:schemeClr val="dk1"/>
                </a:solidFill>
              </a:rPr>
              <a:t>- RAM is dominated by 8 GB configurations.</a:t>
            </a:r>
            <a:endParaRPr b="1" sz="1300">
              <a:solidFill>
                <a:schemeClr val="dk1"/>
              </a:solidFill>
            </a:endParaRPr>
          </a:p>
          <a:p>
            <a:pPr indent="0" lvl="0" marL="0" rtl="0" algn="l">
              <a:lnSpc>
                <a:spcPct val="115000"/>
              </a:lnSpc>
              <a:spcBef>
                <a:spcPts val="1400"/>
              </a:spcBef>
              <a:spcAft>
                <a:spcPts val="400"/>
              </a:spcAft>
              <a:buClr>
                <a:schemeClr val="dk1"/>
              </a:buClr>
              <a:buSzPts val="1100"/>
              <a:buFont typeface="Arial"/>
              <a:buNone/>
            </a:pPr>
            <a:r>
              <a:t/>
            </a:r>
            <a:endParaRPr b="1" sz="1300">
              <a:solidFill>
                <a:schemeClr val="dk1"/>
              </a:solidFill>
            </a:endParaRPr>
          </a:p>
        </p:txBody>
      </p:sp>
      <p:sp>
        <p:nvSpPr>
          <p:cNvPr id="160" name="Google Shape;160;p21"/>
          <p:cNvSpPr txBox="1"/>
          <p:nvPr/>
        </p:nvSpPr>
        <p:spPr>
          <a:xfrm>
            <a:off x="356525" y="1342250"/>
            <a:ext cx="5117100" cy="53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sz="2800">
                <a:solidFill>
                  <a:schemeClr val="dk1"/>
                </a:solidFill>
                <a:latin typeface="Calibri"/>
                <a:ea typeface="Calibri"/>
                <a:cs typeface="Calibri"/>
                <a:sym typeface="Calibri"/>
              </a:rPr>
              <a:t>  </a:t>
            </a:r>
            <a:endParaRPr sz="2800">
              <a:solidFill>
                <a:schemeClr val="dk1"/>
              </a:solidFill>
              <a:latin typeface="Calibri"/>
              <a:ea typeface="Calibri"/>
              <a:cs typeface="Calibri"/>
              <a:sym typeface="Calibri"/>
            </a:endParaRPr>
          </a:p>
        </p:txBody>
      </p:sp>
      <p:pic>
        <p:nvPicPr>
          <p:cNvPr id="161" name="Google Shape;161;p21" title="EDA7.png"/>
          <p:cNvPicPr preferRelativeResize="0"/>
          <p:nvPr/>
        </p:nvPicPr>
        <p:blipFill>
          <a:blip r:embed="rId3">
            <a:alphaModFix/>
          </a:blip>
          <a:stretch>
            <a:fillRect/>
          </a:stretch>
        </p:blipFill>
        <p:spPr>
          <a:xfrm>
            <a:off x="356525" y="1719250"/>
            <a:ext cx="5324475" cy="3419475"/>
          </a:xfrm>
          <a:prstGeom prst="rect">
            <a:avLst/>
          </a:prstGeom>
          <a:noFill/>
          <a:ln>
            <a:noFill/>
          </a:ln>
        </p:spPr>
      </p:pic>
      <p:pic>
        <p:nvPicPr>
          <p:cNvPr id="162" name="Google Shape;162;p21" title="EDA8.png"/>
          <p:cNvPicPr preferRelativeResize="0"/>
          <p:nvPr/>
        </p:nvPicPr>
        <p:blipFill>
          <a:blip r:embed="rId4">
            <a:alphaModFix/>
          </a:blip>
          <a:stretch>
            <a:fillRect/>
          </a:stretch>
        </p:blipFill>
        <p:spPr>
          <a:xfrm>
            <a:off x="6221888" y="2004038"/>
            <a:ext cx="5438775" cy="3857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58"/>
                                        </p:tgtEl>
                                        <p:attrNameLst>
                                          <p:attrName>style.visibility</p:attrName>
                                        </p:attrNameLst>
                                      </p:cBhvr>
                                      <p:to>
                                        <p:strVal val="visible"/>
                                      </p:to>
                                    </p:set>
                                    <p:animEffect filter="fade" transition="in">
                                      <p:cBhvr>
                                        <p:cTn dur="500"/>
                                        <p:tgtEl>
                                          <p:spTgt spid="1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2"/>
          <p:cNvSpPr txBox="1"/>
          <p:nvPr/>
        </p:nvSpPr>
        <p:spPr>
          <a:xfrm>
            <a:off x="737812" y="1299172"/>
            <a:ext cx="7007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p:txBody>
      </p:sp>
      <p:sp>
        <p:nvSpPr>
          <p:cNvPr id="168" name="Google Shape;168;p22"/>
          <p:cNvSpPr txBox="1"/>
          <p:nvPr/>
        </p:nvSpPr>
        <p:spPr>
          <a:xfrm>
            <a:off x="406675" y="374600"/>
            <a:ext cx="11337900" cy="8013600"/>
          </a:xfrm>
          <a:prstGeom prst="rect">
            <a:avLst/>
          </a:prstGeom>
          <a:noFill/>
          <a:ln>
            <a:noFill/>
          </a:ln>
        </p:spPr>
        <p:txBody>
          <a:bodyPr anchorCtr="0" anchor="t" bIns="45700" lIns="91425" spcFirstLastPara="1" rIns="91425" wrap="square" tIns="45700">
            <a:spAutoFit/>
          </a:bodyPr>
          <a:lstStyle/>
          <a:p>
            <a:pPr indent="0" lvl="0" marL="0" rtl="0" algn="l">
              <a:lnSpc>
                <a:spcPct val="90000"/>
              </a:lnSpc>
              <a:spcBef>
                <a:spcPts val="1000"/>
              </a:spcBef>
              <a:spcAft>
                <a:spcPts val="0"/>
              </a:spcAft>
              <a:buNone/>
            </a:pPr>
            <a:r>
              <a:rPr b="1" lang="en-IN" sz="2800">
                <a:solidFill>
                  <a:srgbClr val="FF0000"/>
                </a:solidFill>
                <a:latin typeface="Calibri"/>
                <a:ea typeface="Calibri"/>
                <a:cs typeface="Calibri"/>
                <a:sym typeface="Calibri"/>
              </a:rPr>
              <a:t>Exploratory Data Analysis: </a:t>
            </a:r>
            <a:endParaRPr sz="2800">
              <a:solidFill>
                <a:schemeClr val="dk1"/>
              </a:solidFill>
              <a:latin typeface="Calibri"/>
              <a:ea typeface="Calibri"/>
              <a:cs typeface="Calibri"/>
              <a:sym typeface="Calibri"/>
            </a:endParaRPr>
          </a:p>
          <a:p>
            <a:pPr indent="0" lvl="0" marL="0" rtl="0" algn="l">
              <a:lnSpc>
                <a:spcPct val="115000"/>
              </a:lnSpc>
              <a:spcBef>
                <a:spcPts val="1400"/>
              </a:spcBef>
              <a:spcAft>
                <a:spcPts val="0"/>
              </a:spcAft>
              <a:buClr>
                <a:schemeClr val="dk1"/>
              </a:buClr>
              <a:buSzPts val="1100"/>
              <a:buFont typeface="Arial"/>
              <a:buNone/>
            </a:pPr>
            <a:r>
              <a:rPr b="1" lang="en-IN" sz="1300">
                <a:solidFill>
                  <a:schemeClr val="dk1"/>
                </a:solidFill>
              </a:rPr>
              <a:t>   3. Univariate Analysis Steps (Numerical Features)</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IN" sz="1300">
                <a:solidFill>
                  <a:schemeClr val="dk1"/>
                </a:solidFill>
              </a:rPr>
              <a:t>     </a:t>
            </a:r>
            <a:r>
              <a:rPr b="1" lang="en-IN" sz="1300">
                <a:solidFill>
                  <a:schemeClr val="dk1"/>
                </a:solidFill>
              </a:rPr>
              <a:t>- 512 GB is the most common storage capacity.</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marR="0" rtl="0" algn="l">
              <a:lnSpc>
                <a:spcPct val="80000"/>
              </a:lnSpc>
              <a:spcBef>
                <a:spcPts val="1200"/>
              </a:spcBef>
              <a:spcAft>
                <a:spcPts val="0"/>
              </a:spcAft>
              <a:buClr>
                <a:srgbClr val="FF0000"/>
              </a:buClr>
              <a:buSzPts val="3200"/>
              <a:buFont typeface="Lato Black"/>
              <a:buNone/>
            </a:pPr>
            <a:r>
              <a:t/>
            </a:r>
            <a:endParaRPr sz="1800">
              <a:solidFill>
                <a:srgbClr val="FF0000"/>
              </a:solidFill>
              <a:latin typeface="Calibri"/>
              <a:ea typeface="Calibri"/>
              <a:cs typeface="Calibri"/>
              <a:sym typeface="Calibri"/>
            </a:endParaRPr>
          </a:p>
        </p:txBody>
      </p:sp>
      <p:sp>
        <p:nvSpPr>
          <p:cNvPr id="169" name="Google Shape;169;p22"/>
          <p:cNvSpPr txBox="1"/>
          <p:nvPr/>
        </p:nvSpPr>
        <p:spPr>
          <a:xfrm>
            <a:off x="5402875" y="1668475"/>
            <a:ext cx="6627300" cy="794400"/>
          </a:xfrm>
          <a:prstGeom prst="rect">
            <a:avLst/>
          </a:prstGeom>
          <a:noFill/>
          <a:ln>
            <a:noFill/>
          </a:ln>
        </p:spPr>
        <p:txBody>
          <a:bodyPr anchorCtr="0" anchor="t" bIns="91425" lIns="91425" spcFirstLastPara="1" rIns="91425" wrap="square" tIns="91425">
            <a:spAutoFit/>
          </a:bodyPr>
          <a:lstStyle/>
          <a:p>
            <a:pPr indent="457200" lvl="0" marL="1371600" rtl="0" algn="l">
              <a:lnSpc>
                <a:spcPct val="115000"/>
              </a:lnSpc>
              <a:spcBef>
                <a:spcPts val="1400"/>
              </a:spcBef>
              <a:spcAft>
                <a:spcPts val="0"/>
              </a:spcAft>
              <a:buNone/>
            </a:pPr>
            <a:r>
              <a:rPr b="1" lang="en-IN" sz="1300">
                <a:solidFill>
                  <a:schemeClr val="dk1"/>
                </a:solidFill>
              </a:rPr>
              <a:t>- Most customer ratings lie between 4.0 and 4.5.</a:t>
            </a:r>
            <a:endParaRPr b="1" sz="1300">
              <a:solidFill>
                <a:schemeClr val="dk1"/>
              </a:solidFill>
            </a:endParaRPr>
          </a:p>
          <a:p>
            <a:pPr indent="0" lvl="0" marL="0" rtl="0" algn="l">
              <a:lnSpc>
                <a:spcPct val="115000"/>
              </a:lnSpc>
              <a:spcBef>
                <a:spcPts val="1400"/>
              </a:spcBef>
              <a:spcAft>
                <a:spcPts val="400"/>
              </a:spcAft>
              <a:buNone/>
            </a:pPr>
            <a:r>
              <a:t/>
            </a:r>
            <a:endParaRPr b="1" sz="1300">
              <a:solidFill>
                <a:schemeClr val="dk1"/>
              </a:solidFill>
            </a:endParaRPr>
          </a:p>
        </p:txBody>
      </p:sp>
      <p:sp>
        <p:nvSpPr>
          <p:cNvPr id="170" name="Google Shape;170;p22"/>
          <p:cNvSpPr txBox="1"/>
          <p:nvPr/>
        </p:nvSpPr>
        <p:spPr>
          <a:xfrm>
            <a:off x="356525" y="1342250"/>
            <a:ext cx="230700" cy="53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pic>
        <p:nvPicPr>
          <p:cNvPr id="171" name="Google Shape;171;p22" title="EDA9.png"/>
          <p:cNvPicPr preferRelativeResize="0"/>
          <p:nvPr/>
        </p:nvPicPr>
        <p:blipFill>
          <a:blip r:embed="rId3">
            <a:alphaModFix/>
          </a:blip>
          <a:stretch>
            <a:fillRect/>
          </a:stretch>
        </p:blipFill>
        <p:spPr>
          <a:xfrm>
            <a:off x="283100" y="1668463"/>
            <a:ext cx="5334000" cy="3781425"/>
          </a:xfrm>
          <a:prstGeom prst="rect">
            <a:avLst/>
          </a:prstGeom>
          <a:noFill/>
          <a:ln>
            <a:noFill/>
          </a:ln>
        </p:spPr>
      </p:pic>
      <p:pic>
        <p:nvPicPr>
          <p:cNvPr id="172" name="Google Shape;172;p22" title="EDA10.png"/>
          <p:cNvPicPr preferRelativeResize="0"/>
          <p:nvPr/>
        </p:nvPicPr>
        <p:blipFill>
          <a:blip r:embed="rId4">
            <a:alphaModFix/>
          </a:blip>
          <a:stretch>
            <a:fillRect/>
          </a:stretch>
        </p:blipFill>
        <p:spPr>
          <a:xfrm>
            <a:off x="6328875" y="2135000"/>
            <a:ext cx="5238750" cy="3657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68"/>
                                        </p:tgtEl>
                                        <p:attrNameLst>
                                          <p:attrName>style.visibility</p:attrName>
                                        </p:attrNameLst>
                                      </p:cBhvr>
                                      <p:to>
                                        <p:strVal val="visible"/>
                                      </p:to>
                                    </p:set>
                                    <p:animEffect filter="fade" transition="in">
                                      <p:cBhvr>
                                        <p:cTn dur="500"/>
                                        <p:tgtEl>
                                          <p:spTgt spid="1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3"/>
          <p:cNvSpPr txBox="1"/>
          <p:nvPr/>
        </p:nvSpPr>
        <p:spPr>
          <a:xfrm>
            <a:off x="737812" y="1299172"/>
            <a:ext cx="7007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p:txBody>
      </p:sp>
      <p:sp>
        <p:nvSpPr>
          <p:cNvPr id="178" name="Google Shape;178;p23"/>
          <p:cNvSpPr txBox="1"/>
          <p:nvPr/>
        </p:nvSpPr>
        <p:spPr>
          <a:xfrm>
            <a:off x="406675" y="374600"/>
            <a:ext cx="11337900" cy="8397600"/>
          </a:xfrm>
          <a:prstGeom prst="rect">
            <a:avLst/>
          </a:prstGeom>
          <a:noFill/>
          <a:ln>
            <a:noFill/>
          </a:ln>
        </p:spPr>
        <p:txBody>
          <a:bodyPr anchorCtr="0" anchor="t" bIns="45700" lIns="91425" spcFirstLastPara="1" rIns="91425" wrap="square" tIns="45700">
            <a:spAutoFit/>
          </a:bodyPr>
          <a:lstStyle/>
          <a:p>
            <a:pPr indent="0" lvl="0" marL="0" rtl="0" algn="l">
              <a:lnSpc>
                <a:spcPct val="90000"/>
              </a:lnSpc>
              <a:spcBef>
                <a:spcPts val="1000"/>
              </a:spcBef>
              <a:spcAft>
                <a:spcPts val="0"/>
              </a:spcAft>
              <a:buNone/>
            </a:pPr>
            <a:r>
              <a:rPr b="1" lang="en-IN" sz="2800">
                <a:solidFill>
                  <a:srgbClr val="FF0000"/>
                </a:solidFill>
                <a:latin typeface="Calibri"/>
                <a:ea typeface="Calibri"/>
                <a:cs typeface="Calibri"/>
                <a:sym typeface="Calibri"/>
              </a:rPr>
              <a:t>Exploratory Data Analysis: </a:t>
            </a:r>
            <a:endParaRPr sz="2800">
              <a:solidFill>
                <a:schemeClr val="dk1"/>
              </a:solidFill>
              <a:latin typeface="Calibri"/>
              <a:ea typeface="Calibri"/>
              <a:cs typeface="Calibri"/>
              <a:sym typeface="Calibri"/>
            </a:endParaRPr>
          </a:p>
          <a:p>
            <a:pPr indent="0" lvl="0" marL="0" rtl="0" algn="l">
              <a:lnSpc>
                <a:spcPct val="115000"/>
              </a:lnSpc>
              <a:spcBef>
                <a:spcPts val="1400"/>
              </a:spcBef>
              <a:spcAft>
                <a:spcPts val="0"/>
              </a:spcAft>
              <a:buClr>
                <a:schemeClr val="dk1"/>
              </a:buClr>
              <a:buSzPts val="1100"/>
              <a:buFont typeface="Arial"/>
              <a:buNone/>
            </a:pPr>
            <a:r>
              <a:rPr b="1" lang="en-IN" sz="1300">
                <a:solidFill>
                  <a:schemeClr val="dk1"/>
                </a:solidFill>
              </a:rPr>
              <a:t>   3. Univariate Analysis Steps (Categorical)</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IN" sz="1300">
                <a:solidFill>
                  <a:schemeClr val="dk1"/>
                </a:solidFill>
              </a:rPr>
              <a:t>ASUS, HP, and Lenovo have the highest number of listings.</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marR="0" rtl="0" algn="l">
              <a:lnSpc>
                <a:spcPct val="80000"/>
              </a:lnSpc>
              <a:spcBef>
                <a:spcPts val="1200"/>
              </a:spcBef>
              <a:spcAft>
                <a:spcPts val="0"/>
              </a:spcAft>
              <a:buClr>
                <a:srgbClr val="FF0000"/>
              </a:buClr>
              <a:buSzPts val="3200"/>
              <a:buFont typeface="Lato Black"/>
              <a:buNone/>
            </a:pPr>
            <a:r>
              <a:t/>
            </a:r>
            <a:endParaRPr sz="1800">
              <a:solidFill>
                <a:srgbClr val="FF0000"/>
              </a:solidFill>
              <a:latin typeface="Calibri"/>
              <a:ea typeface="Calibri"/>
              <a:cs typeface="Calibri"/>
              <a:sym typeface="Calibri"/>
            </a:endParaRPr>
          </a:p>
        </p:txBody>
      </p:sp>
      <p:sp>
        <p:nvSpPr>
          <p:cNvPr id="179" name="Google Shape;179;p23"/>
          <p:cNvSpPr txBox="1"/>
          <p:nvPr/>
        </p:nvSpPr>
        <p:spPr>
          <a:xfrm>
            <a:off x="5402875" y="1668475"/>
            <a:ext cx="6627300" cy="1152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IN" sz="1300">
                <a:solidFill>
                  <a:schemeClr val="dk1"/>
                </a:solidFill>
              </a:rPr>
              <a:t>                                             </a:t>
            </a:r>
            <a:r>
              <a:rPr b="1" lang="en-IN" sz="1300">
                <a:solidFill>
                  <a:schemeClr val="dk1"/>
                </a:solidFill>
              </a:rPr>
              <a:t>SSD is the most common storage type</a:t>
            </a:r>
            <a:endParaRPr b="1" sz="1300">
              <a:solidFill>
                <a:schemeClr val="dk1"/>
              </a:solidFill>
            </a:endParaRPr>
          </a:p>
          <a:p>
            <a:pPr indent="0" lvl="0" marL="0" rtl="0" algn="l">
              <a:lnSpc>
                <a:spcPct val="115000"/>
              </a:lnSpc>
              <a:spcBef>
                <a:spcPts val="1200"/>
              </a:spcBef>
              <a:spcAft>
                <a:spcPts val="0"/>
              </a:spcAft>
              <a:buNone/>
            </a:pPr>
            <a:r>
              <a:t/>
            </a:r>
            <a:endParaRPr b="1" sz="1300">
              <a:solidFill>
                <a:schemeClr val="dk1"/>
              </a:solidFill>
            </a:endParaRPr>
          </a:p>
          <a:p>
            <a:pPr indent="0" lvl="0" marL="0" rtl="0" algn="l">
              <a:lnSpc>
                <a:spcPct val="115000"/>
              </a:lnSpc>
              <a:spcBef>
                <a:spcPts val="1200"/>
              </a:spcBef>
              <a:spcAft>
                <a:spcPts val="1200"/>
              </a:spcAft>
              <a:buNone/>
            </a:pPr>
            <a:r>
              <a:t/>
            </a:r>
            <a:endParaRPr b="1" sz="1300">
              <a:solidFill>
                <a:schemeClr val="dk1"/>
              </a:solidFill>
            </a:endParaRPr>
          </a:p>
        </p:txBody>
      </p:sp>
      <p:sp>
        <p:nvSpPr>
          <p:cNvPr id="180" name="Google Shape;180;p23"/>
          <p:cNvSpPr txBox="1"/>
          <p:nvPr/>
        </p:nvSpPr>
        <p:spPr>
          <a:xfrm>
            <a:off x="356525" y="1342250"/>
            <a:ext cx="230700" cy="53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pic>
        <p:nvPicPr>
          <p:cNvPr id="181" name="Google Shape;181;p23" title="EDA11.png"/>
          <p:cNvPicPr preferRelativeResize="0"/>
          <p:nvPr/>
        </p:nvPicPr>
        <p:blipFill>
          <a:blip r:embed="rId3">
            <a:alphaModFix/>
          </a:blip>
          <a:stretch>
            <a:fillRect/>
          </a:stretch>
        </p:blipFill>
        <p:spPr>
          <a:xfrm>
            <a:off x="737800" y="2474863"/>
            <a:ext cx="4438650" cy="3381375"/>
          </a:xfrm>
          <a:prstGeom prst="rect">
            <a:avLst/>
          </a:prstGeom>
          <a:noFill/>
          <a:ln>
            <a:noFill/>
          </a:ln>
        </p:spPr>
      </p:pic>
      <p:pic>
        <p:nvPicPr>
          <p:cNvPr id="182" name="Google Shape;182;p23" title="EDA12.png"/>
          <p:cNvPicPr preferRelativeResize="0"/>
          <p:nvPr/>
        </p:nvPicPr>
        <p:blipFill>
          <a:blip r:embed="rId4">
            <a:alphaModFix/>
          </a:blip>
          <a:stretch>
            <a:fillRect/>
          </a:stretch>
        </p:blipFill>
        <p:spPr>
          <a:xfrm>
            <a:off x="5505275" y="2262800"/>
            <a:ext cx="6375626" cy="38055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500"/>
                                        <p:tgtEl>
                                          <p:spTgt spid="1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4"/>
          <p:cNvSpPr txBox="1"/>
          <p:nvPr/>
        </p:nvSpPr>
        <p:spPr>
          <a:xfrm>
            <a:off x="737812" y="1299172"/>
            <a:ext cx="7007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p:txBody>
      </p:sp>
      <p:sp>
        <p:nvSpPr>
          <p:cNvPr id="188" name="Google Shape;188;p24"/>
          <p:cNvSpPr txBox="1"/>
          <p:nvPr/>
        </p:nvSpPr>
        <p:spPr>
          <a:xfrm>
            <a:off x="406675" y="374600"/>
            <a:ext cx="11337900" cy="8013600"/>
          </a:xfrm>
          <a:prstGeom prst="rect">
            <a:avLst/>
          </a:prstGeom>
          <a:noFill/>
          <a:ln>
            <a:noFill/>
          </a:ln>
        </p:spPr>
        <p:txBody>
          <a:bodyPr anchorCtr="0" anchor="t" bIns="45700" lIns="91425" spcFirstLastPara="1" rIns="91425" wrap="square" tIns="45700">
            <a:spAutoFit/>
          </a:bodyPr>
          <a:lstStyle/>
          <a:p>
            <a:pPr indent="0" lvl="0" marL="0" rtl="0" algn="l">
              <a:lnSpc>
                <a:spcPct val="90000"/>
              </a:lnSpc>
              <a:spcBef>
                <a:spcPts val="1000"/>
              </a:spcBef>
              <a:spcAft>
                <a:spcPts val="0"/>
              </a:spcAft>
              <a:buNone/>
            </a:pPr>
            <a:r>
              <a:rPr b="1" lang="en-IN" sz="2800">
                <a:solidFill>
                  <a:srgbClr val="FF0000"/>
                </a:solidFill>
                <a:latin typeface="Calibri"/>
                <a:ea typeface="Calibri"/>
                <a:cs typeface="Calibri"/>
                <a:sym typeface="Calibri"/>
              </a:rPr>
              <a:t>Exploratory Data Analysis: </a:t>
            </a:r>
            <a:endParaRPr sz="2800">
              <a:solidFill>
                <a:schemeClr val="dk1"/>
              </a:solidFill>
              <a:latin typeface="Calibri"/>
              <a:ea typeface="Calibri"/>
              <a:cs typeface="Calibri"/>
              <a:sym typeface="Calibri"/>
            </a:endParaRPr>
          </a:p>
          <a:p>
            <a:pPr indent="0" lvl="0" marL="0" rtl="0" algn="l">
              <a:lnSpc>
                <a:spcPct val="115000"/>
              </a:lnSpc>
              <a:spcBef>
                <a:spcPts val="1400"/>
              </a:spcBef>
              <a:spcAft>
                <a:spcPts val="0"/>
              </a:spcAft>
              <a:buClr>
                <a:schemeClr val="dk1"/>
              </a:buClr>
              <a:buSzPts val="1100"/>
              <a:buFont typeface="Arial"/>
              <a:buNone/>
            </a:pPr>
            <a:r>
              <a:rPr b="1" lang="en-IN" sz="1300">
                <a:solidFill>
                  <a:schemeClr val="dk1"/>
                </a:solidFill>
              </a:rPr>
              <a:t>   </a:t>
            </a:r>
            <a:r>
              <a:rPr b="1" lang="en-IN" sz="1300">
                <a:solidFill>
                  <a:schemeClr val="dk1"/>
                </a:solidFill>
              </a:rPr>
              <a:t>4. Bivariate Analysis Steps </a:t>
            </a:r>
            <a:r>
              <a:rPr b="1" lang="en-IN" sz="1250">
                <a:solidFill>
                  <a:schemeClr val="dk1"/>
                </a:solidFill>
                <a:highlight>
                  <a:srgbClr val="FFFFFF"/>
                </a:highlight>
              </a:rPr>
              <a:t>(Price vs Other Features)</a:t>
            </a:r>
            <a:endParaRPr b="1" sz="1250">
              <a:solidFill>
                <a:schemeClr val="dk1"/>
              </a:solidFill>
              <a:highlight>
                <a:srgbClr val="FFFFFF"/>
              </a:highlight>
            </a:endParaRPr>
          </a:p>
          <a:p>
            <a:pPr indent="0" lvl="0" marL="0" rtl="0" algn="l">
              <a:lnSpc>
                <a:spcPct val="115000"/>
              </a:lnSpc>
              <a:spcBef>
                <a:spcPts val="1400"/>
              </a:spcBef>
              <a:spcAft>
                <a:spcPts val="0"/>
              </a:spcAft>
              <a:buClr>
                <a:schemeClr val="dk1"/>
              </a:buClr>
              <a:buSzPts val="1100"/>
              <a:buFont typeface="Arial"/>
              <a:buNone/>
            </a:pPr>
            <a:r>
              <a:rPr b="1" lang="en-IN" sz="1300">
                <a:solidFill>
                  <a:schemeClr val="dk1"/>
                </a:solidFill>
              </a:rPr>
              <a:t>            - </a:t>
            </a:r>
            <a:r>
              <a:rPr b="1" lang="en-IN" sz="1200">
                <a:solidFill>
                  <a:schemeClr val="dk1"/>
                </a:solidFill>
              </a:rPr>
              <a:t>Premium brands have higher median prices.                                                                        - Budget brands have lower price ranges.</a:t>
            </a:r>
            <a:endParaRPr b="1" sz="12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marR="0" rtl="0" algn="l">
              <a:lnSpc>
                <a:spcPct val="80000"/>
              </a:lnSpc>
              <a:spcBef>
                <a:spcPts val="1200"/>
              </a:spcBef>
              <a:spcAft>
                <a:spcPts val="0"/>
              </a:spcAft>
              <a:buClr>
                <a:srgbClr val="FF0000"/>
              </a:buClr>
              <a:buSzPts val="3200"/>
              <a:buFont typeface="Lato Black"/>
              <a:buNone/>
            </a:pPr>
            <a:r>
              <a:t/>
            </a:r>
            <a:endParaRPr sz="1800">
              <a:solidFill>
                <a:srgbClr val="FF0000"/>
              </a:solidFill>
              <a:latin typeface="Calibri"/>
              <a:ea typeface="Calibri"/>
              <a:cs typeface="Calibri"/>
              <a:sym typeface="Calibri"/>
            </a:endParaRPr>
          </a:p>
        </p:txBody>
      </p:sp>
      <p:sp>
        <p:nvSpPr>
          <p:cNvPr id="189" name="Google Shape;189;p24"/>
          <p:cNvSpPr txBox="1"/>
          <p:nvPr/>
        </p:nvSpPr>
        <p:spPr>
          <a:xfrm>
            <a:off x="5402875" y="1668475"/>
            <a:ext cx="6627300" cy="76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b="1" sz="1300">
              <a:solidFill>
                <a:schemeClr val="dk1"/>
              </a:solidFill>
            </a:endParaRPr>
          </a:p>
          <a:p>
            <a:pPr indent="0" lvl="0" marL="0" rtl="0" algn="l">
              <a:lnSpc>
                <a:spcPct val="115000"/>
              </a:lnSpc>
              <a:spcBef>
                <a:spcPts val="1200"/>
              </a:spcBef>
              <a:spcAft>
                <a:spcPts val="1200"/>
              </a:spcAft>
              <a:buNone/>
            </a:pPr>
            <a:r>
              <a:t/>
            </a:r>
            <a:endParaRPr b="1" sz="1300">
              <a:solidFill>
                <a:schemeClr val="dk1"/>
              </a:solidFill>
            </a:endParaRPr>
          </a:p>
        </p:txBody>
      </p:sp>
      <p:sp>
        <p:nvSpPr>
          <p:cNvPr id="190" name="Google Shape;190;p24"/>
          <p:cNvSpPr txBox="1"/>
          <p:nvPr/>
        </p:nvSpPr>
        <p:spPr>
          <a:xfrm>
            <a:off x="356525" y="1342250"/>
            <a:ext cx="230700" cy="53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pic>
        <p:nvPicPr>
          <p:cNvPr id="191" name="Google Shape;191;p24" title="EDA13.png"/>
          <p:cNvPicPr preferRelativeResize="0"/>
          <p:nvPr/>
        </p:nvPicPr>
        <p:blipFill>
          <a:blip r:embed="rId3">
            <a:alphaModFix/>
          </a:blip>
          <a:stretch>
            <a:fillRect/>
          </a:stretch>
        </p:blipFill>
        <p:spPr>
          <a:xfrm>
            <a:off x="465175" y="1803750"/>
            <a:ext cx="10448925" cy="42258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88"/>
                                        </p:tgtEl>
                                        <p:attrNameLst>
                                          <p:attrName>style.visibility</p:attrName>
                                        </p:attrNameLst>
                                      </p:cBhvr>
                                      <p:to>
                                        <p:strVal val="visible"/>
                                      </p:to>
                                    </p:set>
                                    <p:animEffect filter="fade" transition="in">
                                      <p:cBhvr>
                                        <p:cTn dur="500"/>
                                        <p:tgtEl>
                                          <p:spTgt spid="1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5"/>
          <p:cNvSpPr txBox="1"/>
          <p:nvPr/>
        </p:nvSpPr>
        <p:spPr>
          <a:xfrm>
            <a:off x="737812" y="1299172"/>
            <a:ext cx="7007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p:txBody>
      </p:sp>
      <p:sp>
        <p:nvSpPr>
          <p:cNvPr id="197" name="Google Shape;197;p25"/>
          <p:cNvSpPr txBox="1"/>
          <p:nvPr/>
        </p:nvSpPr>
        <p:spPr>
          <a:xfrm>
            <a:off x="406675" y="374600"/>
            <a:ext cx="11337900" cy="8013600"/>
          </a:xfrm>
          <a:prstGeom prst="rect">
            <a:avLst/>
          </a:prstGeom>
          <a:noFill/>
          <a:ln>
            <a:noFill/>
          </a:ln>
        </p:spPr>
        <p:txBody>
          <a:bodyPr anchorCtr="0" anchor="t" bIns="45700" lIns="91425" spcFirstLastPara="1" rIns="91425" wrap="square" tIns="45700">
            <a:spAutoFit/>
          </a:bodyPr>
          <a:lstStyle/>
          <a:p>
            <a:pPr indent="0" lvl="0" marL="0" rtl="0" algn="l">
              <a:lnSpc>
                <a:spcPct val="90000"/>
              </a:lnSpc>
              <a:spcBef>
                <a:spcPts val="1000"/>
              </a:spcBef>
              <a:spcAft>
                <a:spcPts val="0"/>
              </a:spcAft>
              <a:buNone/>
            </a:pPr>
            <a:r>
              <a:rPr b="1" lang="en-IN" sz="2800">
                <a:solidFill>
                  <a:srgbClr val="FF0000"/>
                </a:solidFill>
                <a:latin typeface="Calibri"/>
                <a:ea typeface="Calibri"/>
                <a:cs typeface="Calibri"/>
                <a:sym typeface="Calibri"/>
              </a:rPr>
              <a:t>Exploratory Data Analysis: </a:t>
            </a:r>
            <a:endParaRPr sz="2800">
              <a:solidFill>
                <a:schemeClr val="dk1"/>
              </a:solidFill>
              <a:latin typeface="Calibri"/>
              <a:ea typeface="Calibri"/>
              <a:cs typeface="Calibri"/>
              <a:sym typeface="Calibri"/>
            </a:endParaRPr>
          </a:p>
          <a:p>
            <a:pPr indent="0" lvl="0" marL="0" rtl="0" algn="l">
              <a:lnSpc>
                <a:spcPct val="115000"/>
              </a:lnSpc>
              <a:spcBef>
                <a:spcPts val="1400"/>
              </a:spcBef>
              <a:spcAft>
                <a:spcPts val="0"/>
              </a:spcAft>
              <a:buClr>
                <a:schemeClr val="dk1"/>
              </a:buClr>
              <a:buSzPts val="1100"/>
              <a:buFont typeface="Arial"/>
              <a:buNone/>
            </a:pPr>
            <a:r>
              <a:rPr b="1" lang="en-IN" sz="1300">
                <a:solidFill>
                  <a:schemeClr val="dk1"/>
                </a:solidFill>
              </a:rPr>
              <a:t>   4. Bivariate Analysis Steps </a:t>
            </a:r>
            <a:r>
              <a:rPr b="1" lang="en-IN" sz="1250">
                <a:solidFill>
                  <a:schemeClr val="dk1"/>
                </a:solidFill>
                <a:highlight>
                  <a:srgbClr val="FFFFFF"/>
                </a:highlight>
              </a:rPr>
              <a:t>(Price vs Other Features)</a:t>
            </a:r>
            <a:endParaRPr b="1" sz="1250">
              <a:solidFill>
                <a:schemeClr val="dk1"/>
              </a:solidFill>
              <a:highlight>
                <a:srgbClr val="FFFFFF"/>
              </a:highlight>
            </a:endParaRPr>
          </a:p>
          <a:p>
            <a:pPr indent="0" lvl="0" marL="0" rtl="0" algn="l">
              <a:lnSpc>
                <a:spcPct val="115000"/>
              </a:lnSpc>
              <a:spcBef>
                <a:spcPts val="1400"/>
              </a:spcBef>
              <a:spcAft>
                <a:spcPts val="0"/>
              </a:spcAft>
              <a:buClr>
                <a:schemeClr val="dk1"/>
              </a:buClr>
              <a:buSzPts val="1100"/>
              <a:buFont typeface="Arial"/>
              <a:buNone/>
            </a:pPr>
            <a:r>
              <a:rPr b="1" lang="en-IN" sz="1300">
                <a:solidFill>
                  <a:schemeClr val="dk1"/>
                </a:solidFill>
              </a:rPr>
              <a:t>     - Laptop prices increase as RAM capacity increases.                                      - Laptops with larger SSD capacities tend to be more expensive.</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IN" sz="1300">
                <a:solidFill>
                  <a:schemeClr val="dk1"/>
                </a:solidFill>
              </a:rPr>
              <a:t>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marR="0" rtl="0" algn="l">
              <a:lnSpc>
                <a:spcPct val="80000"/>
              </a:lnSpc>
              <a:spcBef>
                <a:spcPts val="1200"/>
              </a:spcBef>
              <a:spcAft>
                <a:spcPts val="0"/>
              </a:spcAft>
              <a:buClr>
                <a:srgbClr val="FF0000"/>
              </a:buClr>
              <a:buSzPts val="3200"/>
              <a:buFont typeface="Lato Black"/>
              <a:buNone/>
            </a:pPr>
            <a:r>
              <a:t/>
            </a:r>
            <a:endParaRPr sz="1800">
              <a:solidFill>
                <a:srgbClr val="FF0000"/>
              </a:solidFill>
              <a:latin typeface="Calibri"/>
              <a:ea typeface="Calibri"/>
              <a:cs typeface="Calibri"/>
              <a:sym typeface="Calibri"/>
            </a:endParaRPr>
          </a:p>
        </p:txBody>
      </p:sp>
      <p:sp>
        <p:nvSpPr>
          <p:cNvPr id="198" name="Google Shape;198;p25"/>
          <p:cNvSpPr txBox="1"/>
          <p:nvPr/>
        </p:nvSpPr>
        <p:spPr>
          <a:xfrm>
            <a:off x="5402875" y="1668475"/>
            <a:ext cx="6627300" cy="76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b="1" sz="1300">
              <a:solidFill>
                <a:schemeClr val="dk1"/>
              </a:solidFill>
            </a:endParaRPr>
          </a:p>
          <a:p>
            <a:pPr indent="0" lvl="0" marL="0" rtl="0" algn="l">
              <a:lnSpc>
                <a:spcPct val="115000"/>
              </a:lnSpc>
              <a:spcBef>
                <a:spcPts val="1200"/>
              </a:spcBef>
              <a:spcAft>
                <a:spcPts val="1200"/>
              </a:spcAft>
              <a:buNone/>
            </a:pPr>
            <a:r>
              <a:t/>
            </a:r>
            <a:endParaRPr b="1" sz="1300">
              <a:solidFill>
                <a:schemeClr val="dk1"/>
              </a:solidFill>
            </a:endParaRPr>
          </a:p>
        </p:txBody>
      </p:sp>
      <p:sp>
        <p:nvSpPr>
          <p:cNvPr id="199" name="Google Shape;199;p25"/>
          <p:cNvSpPr txBox="1"/>
          <p:nvPr/>
        </p:nvSpPr>
        <p:spPr>
          <a:xfrm>
            <a:off x="356525" y="1342250"/>
            <a:ext cx="230700" cy="53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pic>
        <p:nvPicPr>
          <p:cNvPr id="200" name="Google Shape;200;p25" title="EDA14.png"/>
          <p:cNvPicPr preferRelativeResize="0"/>
          <p:nvPr/>
        </p:nvPicPr>
        <p:blipFill>
          <a:blip r:embed="rId3">
            <a:alphaModFix/>
          </a:blip>
          <a:stretch>
            <a:fillRect/>
          </a:stretch>
        </p:blipFill>
        <p:spPr>
          <a:xfrm>
            <a:off x="406675" y="1877150"/>
            <a:ext cx="5591451" cy="4010025"/>
          </a:xfrm>
          <a:prstGeom prst="rect">
            <a:avLst/>
          </a:prstGeom>
          <a:noFill/>
          <a:ln>
            <a:noFill/>
          </a:ln>
        </p:spPr>
      </p:pic>
      <p:pic>
        <p:nvPicPr>
          <p:cNvPr id="201" name="Google Shape;201;p25" title="EDA15.png"/>
          <p:cNvPicPr preferRelativeResize="0"/>
          <p:nvPr/>
        </p:nvPicPr>
        <p:blipFill>
          <a:blip r:embed="rId4">
            <a:alphaModFix/>
          </a:blip>
          <a:stretch>
            <a:fillRect/>
          </a:stretch>
        </p:blipFill>
        <p:spPr>
          <a:xfrm>
            <a:off x="5897375" y="1777638"/>
            <a:ext cx="6038850" cy="39528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97"/>
                                        </p:tgtEl>
                                        <p:attrNameLst>
                                          <p:attrName>style.visibility</p:attrName>
                                        </p:attrNameLst>
                                      </p:cBhvr>
                                      <p:to>
                                        <p:strVal val="visible"/>
                                      </p:to>
                                    </p:set>
                                    <p:animEffect filter="fade" transition="in">
                                      <p:cBhvr>
                                        <p:cTn dur="500"/>
                                        <p:tgtEl>
                                          <p:spTgt spid="1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6"/>
          <p:cNvSpPr txBox="1"/>
          <p:nvPr/>
        </p:nvSpPr>
        <p:spPr>
          <a:xfrm>
            <a:off x="737812" y="1299172"/>
            <a:ext cx="7007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p:txBody>
      </p:sp>
      <p:sp>
        <p:nvSpPr>
          <p:cNvPr id="207" name="Google Shape;207;p26"/>
          <p:cNvSpPr txBox="1"/>
          <p:nvPr/>
        </p:nvSpPr>
        <p:spPr>
          <a:xfrm>
            <a:off x="406675" y="374600"/>
            <a:ext cx="11337900" cy="7603800"/>
          </a:xfrm>
          <a:prstGeom prst="rect">
            <a:avLst/>
          </a:prstGeom>
          <a:noFill/>
          <a:ln>
            <a:noFill/>
          </a:ln>
        </p:spPr>
        <p:txBody>
          <a:bodyPr anchorCtr="0" anchor="t" bIns="45700" lIns="91425" spcFirstLastPara="1" rIns="91425" wrap="square" tIns="45700">
            <a:spAutoFit/>
          </a:bodyPr>
          <a:lstStyle/>
          <a:p>
            <a:pPr indent="0" lvl="0" marL="0" rtl="0" algn="l">
              <a:lnSpc>
                <a:spcPct val="90000"/>
              </a:lnSpc>
              <a:spcBef>
                <a:spcPts val="1000"/>
              </a:spcBef>
              <a:spcAft>
                <a:spcPts val="0"/>
              </a:spcAft>
              <a:buNone/>
            </a:pPr>
            <a:r>
              <a:rPr b="1" lang="en-IN" sz="2800">
                <a:solidFill>
                  <a:srgbClr val="FF0000"/>
                </a:solidFill>
                <a:latin typeface="Calibri"/>
                <a:ea typeface="Calibri"/>
                <a:cs typeface="Calibri"/>
                <a:sym typeface="Calibri"/>
              </a:rPr>
              <a:t>Exploratory Data Analysis: </a:t>
            </a:r>
            <a:endParaRPr sz="2800">
              <a:solidFill>
                <a:schemeClr val="dk1"/>
              </a:solidFill>
              <a:latin typeface="Calibri"/>
              <a:ea typeface="Calibri"/>
              <a:cs typeface="Calibri"/>
              <a:sym typeface="Calibri"/>
            </a:endParaRPr>
          </a:p>
          <a:p>
            <a:pPr indent="0" lvl="0" marL="0" rtl="0" algn="l">
              <a:lnSpc>
                <a:spcPct val="115000"/>
              </a:lnSpc>
              <a:spcBef>
                <a:spcPts val="1400"/>
              </a:spcBef>
              <a:spcAft>
                <a:spcPts val="0"/>
              </a:spcAft>
              <a:buClr>
                <a:schemeClr val="dk1"/>
              </a:buClr>
              <a:buSzPts val="1100"/>
              <a:buFont typeface="Arial"/>
              <a:buNone/>
            </a:pPr>
            <a:r>
              <a:rPr b="1" lang="en-IN" sz="1300">
                <a:solidFill>
                  <a:schemeClr val="dk1"/>
                </a:solidFill>
              </a:rPr>
              <a:t>   4. Bivariate Analysis Steps </a:t>
            </a:r>
            <a:r>
              <a:rPr b="1" lang="en-IN" sz="1250">
                <a:solidFill>
                  <a:schemeClr val="dk1"/>
                </a:solidFill>
                <a:highlight>
                  <a:srgbClr val="FFFFFF"/>
                </a:highlight>
              </a:rPr>
              <a:t>(Price vs Other Features)</a:t>
            </a:r>
            <a:endParaRPr b="1" sz="1250">
              <a:solidFill>
                <a:schemeClr val="dk1"/>
              </a:solidFill>
              <a:highlight>
                <a:srgbClr val="FFFFFF"/>
              </a:highlight>
            </a:endParaRPr>
          </a:p>
          <a:p>
            <a:pPr indent="457200" lvl="0" marL="0" rtl="0" algn="l">
              <a:lnSpc>
                <a:spcPct val="115000"/>
              </a:lnSpc>
              <a:spcBef>
                <a:spcPts val="1400"/>
              </a:spcBef>
              <a:spcAft>
                <a:spcPts val="0"/>
              </a:spcAft>
              <a:buClr>
                <a:schemeClr val="dk1"/>
              </a:buClr>
              <a:buSzPts val="1100"/>
              <a:buFont typeface="Arial"/>
              <a:buNone/>
            </a:pPr>
            <a:r>
              <a:rPr b="1" lang="en-IN" sz="1300">
                <a:solidFill>
                  <a:schemeClr val="dk1"/>
                </a:solidFill>
              </a:rPr>
              <a:t>- Higher-end </a:t>
            </a:r>
            <a:r>
              <a:rPr b="1" lang="en-IN" sz="1300">
                <a:solidFill>
                  <a:schemeClr val="dk1"/>
                </a:solidFill>
              </a:rPr>
              <a:t>p</a:t>
            </a:r>
            <a:r>
              <a:rPr b="1" lang="en-IN" sz="1300">
                <a:solidFill>
                  <a:schemeClr val="dk1"/>
                </a:solidFill>
              </a:rPr>
              <a:t>rocessors are associated with higher laptop prices.</a:t>
            </a:r>
            <a:r>
              <a:rPr b="1" lang="en-IN" sz="1300">
                <a:solidFill>
                  <a:schemeClr val="dk1"/>
                </a:solidFill>
              </a:rPr>
              <a:t>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marR="0" rtl="0" algn="l">
              <a:lnSpc>
                <a:spcPct val="80000"/>
              </a:lnSpc>
              <a:spcBef>
                <a:spcPts val="1200"/>
              </a:spcBef>
              <a:spcAft>
                <a:spcPts val="0"/>
              </a:spcAft>
              <a:buClr>
                <a:srgbClr val="FF0000"/>
              </a:buClr>
              <a:buSzPts val="3200"/>
              <a:buFont typeface="Lato Black"/>
              <a:buNone/>
            </a:pPr>
            <a:r>
              <a:t/>
            </a:r>
            <a:endParaRPr sz="1800">
              <a:solidFill>
                <a:srgbClr val="FF0000"/>
              </a:solidFill>
              <a:latin typeface="Calibri"/>
              <a:ea typeface="Calibri"/>
              <a:cs typeface="Calibri"/>
              <a:sym typeface="Calibri"/>
            </a:endParaRPr>
          </a:p>
        </p:txBody>
      </p:sp>
      <p:sp>
        <p:nvSpPr>
          <p:cNvPr id="208" name="Google Shape;208;p26"/>
          <p:cNvSpPr txBox="1"/>
          <p:nvPr/>
        </p:nvSpPr>
        <p:spPr>
          <a:xfrm>
            <a:off x="5402875" y="1668475"/>
            <a:ext cx="6627300" cy="76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b="1" sz="1300">
              <a:solidFill>
                <a:schemeClr val="dk1"/>
              </a:solidFill>
            </a:endParaRPr>
          </a:p>
          <a:p>
            <a:pPr indent="0" lvl="0" marL="0" rtl="0" algn="l">
              <a:lnSpc>
                <a:spcPct val="115000"/>
              </a:lnSpc>
              <a:spcBef>
                <a:spcPts val="1200"/>
              </a:spcBef>
              <a:spcAft>
                <a:spcPts val="1200"/>
              </a:spcAft>
              <a:buNone/>
            </a:pPr>
            <a:r>
              <a:t/>
            </a:r>
            <a:endParaRPr b="1" sz="1300">
              <a:solidFill>
                <a:schemeClr val="dk1"/>
              </a:solidFill>
            </a:endParaRPr>
          </a:p>
        </p:txBody>
      </p:sp>
      <p:sp>
        <p:nvSpPr>
          <p:cNvPr id="209" name="Google Shape;209;p26"/>
          <p:cNvSpPr txBox="1"/>
          <p:nvPr/>
        </p:nvSpPr>
        <p:spPr>
          <a:xfrm>
            <a:off x="356525" y="1342250"/>
            <a:ext cx="230700" cy="53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pic>
        <p:nvPicPr>
          <p:cNvPr id="210" name="Google Shape;210;p26" title="EDA16.png"/>
          <p:cNvPicPr preferRelativeResize="0"/>
          <p:nvPr/>
        </p:nvPicPr>
        <p:blipFill>
          <a:blip r:embed="rId3">
            <a:alphaModFix/>
          </a:blip>
          <a:stretch>
            <a:fillRect/>
          </a:stretch>
        </p:blipFill>
        <p:spPr>
          <a:xfrm>
            <a:off x="450900" y="1719750"/>
            <a:ext cx="10779849" cy="43098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500"/>
                                        <p:tgtEl>
                                          <p:spTgt spid="2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7"/>
          <p:cNvSpPr txBox="1"/>
          <p:nvPr/>
        </p:nvSpPr>
        <p:spPr>
          <a:xfrm>
            <a:off x="737812" y="1299172"/>
            <a:ext cx="7007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p:txBody>
      </p:sp>
      <p:sp>
        <p:nvSpPr>
          <p:cNvPr id="216" name="Google Shape;216;p27"/>
          <p:cNvSpPr txBox="1"/>
          <p:nvPr/>
        </p:nvSpPr>
        <p:spPr>
          <a:xfrm>
            <a:off x="406675" y="374600"/>
            <a:ext cx="11337900" cy="7194000"/>
          </a:xfrm>
          <a:prstGeom prst="rect">
            <a:avLst/>
          </a:prstGeom>
          <a:noFill/>
          <a:ln>
            <a:noFill/>
          </a:ln>
        </p:spPr>
        <p:txBody>
          <a:bodyPr anchorCtr="0" anchor="t" bIns="45700" lIns="91425" spcFirstLastPara="1" rIns="91425" wrap="square" tIns="45700">
            <a:spAutoFit/>
          </a:bodyPr>
          <a:lstStyle/>
          <a:p>
            <a:pPr indent="0" lvl="0" marL="0" rtl="0" algn="l">
              <a:lnSpc>
                <a:spcPct val="90000"/>
              </a:lnSpc>
              <a:spcBef>
                <a:spcPts val="1000"/>
              </a:spcBef>
              <a:spcAft>
                <a:spcPts val="0"/>
              </a:spcAft>
              <a:buNone/>
            </a:pPr>
            <a:r>
              <a:rPr b="1" lang="en-IN" sz="2800">
                <a:solidFill>
                  <a:srgbClr val="FF0000"/>
                </a:solidFill>
                <a:latin typeface="Calibri"/>
                <a:ea typeface="Calibri"/>
                <a:cs typeface="Calibri"/>
                <a:sym typeface="Calibri"/>
              </a:rPr>
              <a:t>Exploratory Data Analysis: </a:t>
            </a:r>
            <a:endParaRPr sz="2800">
              <a:solidFill>
                <a:schemeClr val="dk1"/>
              </a:solidFill>
              <a:latin typeface="Calibri"/>
              <a:ea typeface="Calibri"/>
              <a:cs typeface="Calibri"/>
              <a:sym typeface="Calibri"/>
            </a:endParaRPr>
          </a:p>
          <a:p>
            <a:pPr indent="0" lvl="0" marL="0" rtl="0" algn="l">
              <a:lnSpc>
                <a:spcPct val="115000"/>
              </a:lnSpc>
              <a:spcBef>
                <a:spcPts val="1400"/>
              </a:spcBef>
              <a:spcAft>
                <a:spcPts val="0"/>
              </a:spcAft>
              <a:buClr>
                <a:schemeClr val="dk1"/>
              </a:buClr>
              <a:buSzPts val="1100"/>
              <a:buFont typeface="Arial"/>
              <a:buNone/>
            </a:pPr>
            <a:r>
              <a:rPr b="1" lang="en-IN" sz="1300">
                <a:solidFill>
                  <a:schemeClr val="dk1"/>
                </a:solidFill>
              </a:rPr>
              <a:t>   4. Bivariate Analysis Steps </a:t>
            </a:r>
            <a:r>
              <a:rPr b="1" lang="en-IN" sz="1250">
                <a:solidFill>
                  <a:schemeClr val="dk1"/>
                </a:solidFill>
                <a:highlight>
                  <a:srgbClr val="FFFFFF"/>
                </a:highlight>
              </a:rPr>
              <a:t>(Price vs Other Features)</a:t>
            </a:r>
            <a:endParaRPr b="1" sz="1250">
              <a:solidFill>
                <a:schemeClr val="dk1"/>
              </a:solidFill>
              <a:highlight>
                <a:srgbClr val="FFFFFF"/>
              </a:highlight>
            </a:endParaRPr>
          </a:p>
          <a:p>
            <a:pPr indent="0" lvl="0" marL="0" rtl="0" algn="l">
              <a:lnSpc>
                <a:spcPct val="115000"/>
              </a:lnSpc>
              <a:spcBef>
                <a:spcPts val="1400"/>
              </a:spcBef>
              <a:spcAft>
                <a:spcPts val="0"/>
              </a:spcAft>
              <a:buClr>
                <a:schemeClr val="dk1"/>
              </a:buClr>
              <a:buSzPts val="1100"/>
              <a:buFont typeface="Arial"/>
              <a:buNone/>
            </a:pPr>
            <a:r>
              <a:rPr b="1" lang="en-IN" sz="1300">
                <a:solidFill>
                  <a:schemeClr val="dk1"/>
                </a:solidFill>
              </a:rPr>
              <a:t>        - Customer ratings show only a weak relationship with price.</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marR="0" rtl="0" algn="l">
              <a:lnSpc>
                <a:spcPct val="80000"/>
              </a:lnSpc>
              <a:spcBef>
                <a:spcPts val="1200"/>
              </a:spcBef>
              <a:spcAft>
                <a:spcPts val="0"/>
              </a:spcAft>
              <a:buClr>
                <a:srgbClr val="FF0000"/>
              </a:buClr>
              <a:buSzPts val="3200"/>
              <a:buFont typeface="Lato Black"/>
              <a:buNone/>
            </a:pPr>
            <a:r>
              <a:t/>
            </a:r>
            <a:endParaRPr sz="1800">
              <a:solidFill>
                <a:srgbClr val="FF0000"/>
              </a:solidFill>
              <a:latin typeface="Calibri"/>
              <a:ea typeface="Calibri"/>
              <a:cs typeface="Calibri"/>
              <a:sym typeface="Calibri"/>
            </a:endParaRPr>
          </a:p>
        </p:txBody>
      </p:sp>
      <p:sp>
        <p:nvSpPr>
          <p:cNvPr id="217" name="Google Shape;217;p27"/>
          <p:cNvSpPr txBox="1"/>
          <p:nvPr/>
        </p:nvSpPr>
        <p:spPr>
          <a:xfrm>
            <a:off x="5402875" y="1668475"/>
            <a:ext cx="6627300" cy="76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b="1" sz="1300">
              <a:solidFill>
                <a:schemeClr val="dk1"/>
              </a:solidFill>
            </a:endParaRPr>
          </a:p>
          <a:p>
            <a:pPr indent="0" lvl="0" marL="0" rtl="0" algn="l">
              <a:lnSpc>
                <a:spcPct val="115000"/>
              </a:lnSpc>
              <a:spcBef>
                <a:spcPts val="1200"/>
              </a:spcBef>
              <a:spcAft>
                <a:spcPts val="1200"/>
              </a:spcAft>
              <a:buNone/>
            </a:pPr>
            <a:r>
              <a:t/>
            </a:r>
            <a:endParaRPr b="1" sz="1300">
              <a:solidFill>
                <a:schemeClr val="dk1"/>
              </a:solidFill>
            </a:endParaRPr>
          </a:p>
        </p:txBody>
      </p:sp>
      <p:sp>
        <p:nvSpPr>
          <p:cNvPr id="218" name="Google Shape;218;p27"/>
          <p:cNvSpPr txBox="1"/>
          <p:nvPr/>
        </p:nvSpPr>
        <p:spPr>
          <a:xfrm>
            <a:off x="356525" y="1342250"/>
            <a:ext cx="230700" cy="53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pic>
        <p:nvPicPr>
          <p:cNvPr id="219" name="Google Shape;219;p27" title="EDA17.png"/>
          <p:cNvPicPr preferRelativeResize="0"/>
          <p:nvPr/>
        </p:nvPicPr>
        <p:blipFill>
          <a:blip r:embed="rId3">
            <a:alphaModFix/>
          </a:blip>
          <a:stretch>
            <a:fillRect/>
          </a:stretch>
        </p:blipFill>
        <p:spPr>
          <a:xfrm>
            <a:off x="2555150" y="1934938"/>
            <a:ext cx="6096000" cy="39528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16"/>
                                        </p:tgtEl>
                                        <p:attrNameLst>
                                          <p:attrName>style.visibility</p:attrName>
                                        </p:attrNameLst>
                                      </p:cBhvr>
                                      <p:to>
                                        <p:strVal val="visible"/>
                                      </p:to>
                                    </p:set>
                                    <p:animEffect filter="fade" transition="in">
                                      <p:cBhvr>
                                        <p:cTn dur="500"/>
                                        <p:tgtEl>
                                          <p:spTgt spid="2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8"/>
          <p:cNvSpPr txBox="1"/>
          <p:nvPr/>
        </p:nvSpPr>
        <p:spPr>
          <a:xfrm>
            <a:off x="737812" y="1299172"/>
            <a:ext cx="7007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p:txBody>
      </p:sp>
      <p:sp>
        <p:nvSpPr>
          <p:cNvPr id="225" name="Google Shape;225;p28"/>
          <p:cNvSpPr txBox="1"/>
          <p:nvPr/>
        </p:nvSpPr>
        <p:spPr>
          <a:xfrm>
            <a:off x="406675" y="374600"/>
            <a:ext cx="11337900" cy="8178300"/>
          </a:xfrm>
          <a:prstGeom prst="rect">
            <a:avLst/>
          </a:prstGeom>
          <a:noFill/>
          <a:ln>
            <a:noFill/>
          </a:ln>
        </p:spPr>
        <p:txBody>
          <a:bodyPr anchorCtr="0" anchor="t" bIns="45700" lIns="91425" spcFirstLastPara="1" rIns="91425" wrap="square" tIns="45700">
            <a:spAutoFit/>
          </a:bodyPr>
          <a:lstStyle/>
          <a:p>
            <a:pPr indent="0" lvl="0" marL="0" rtl="0" algn="l">
              <a:lnSpc>
                <a:spcPct val="90000"/>
              </a:lnSpc>
              <a:spcBef>
                <a:spcPts val="1000"/>
              </a:spcBef>
              <a:spcAft>
                <a:spcPts val="0"/>
              </a:spcAft>
              <a:buNone/>
            </a:pPr>
            <a:r>
              <a:rPr b="1" lang="en-IN" sz="2800">
                <a:solidFill>
                  <a:srgbClr val="FF0000"/>
                </a:solidFill>
                <a:latin typeface="Calibri"/>
                <a:ea typeface="Calibri"/>
                <a:cs typeface="Calibri"/>
                <a:sym typeface="Calibri"/>
              </a:rPr>
              <a:t>Exploratory Data Analysis: </a:t>
            </a:r>
            <a:endParaRPr sz="2800">
              <a:solidFill>
                <a:schemeClr val="dk1"/>
              </a:solidFill>
              <a:latin typeface="Calibri"/>
              <a:ea typeface="Calibri"/>
              <a:cs typeface="Calibri"/>
              <a:sym typeface="Calibri"/>
            </a:endParaRPr>
          </a:p>
          <a:p>
            <a:pPr indent="0" lvl="0" marL="0" rtl="0" algn="l">
              <a:lnSpc>
                <a:spcPct val="115000"/>
              </a:lnSpc>
              <a:spcBef>
                <a:spcPts val="1400"/>
              </a:spcBef>
              <a:spcAft>
                <a:spcPts val="0"/>
              </a:spcAft>
              <a:buClr>
                <a:schemeClr val="dk1"/>
              </a:buClr>
              <a:buSzPts val="1100"/>
              <a:buFont typeface="Arial"/>
              <a:buNone/>
            </a:pPr>
            <a:r>
              <a:rPr b="1" lang="en-IN" sz="1300">
                <a:solidFill>
                  <a:schemeClr val="dk1"/>
                </a:solidFill>
              </a:rPr>
              <a:t>   Multivariate Analysis </a:t>
            </a:r>
            <a:r>
              <a:rPr b="1" lang="en-IN" sz="1250">
                <a:solidFill>
                  <a:schemeClr val="dk1"/>
                </a:solidFill>
                <a:highlight>
                  <a:srgbClr val="FFFFFF"/>
                </a:highlight>
              </a:rPr>
              <a:t>(Correlation )</a:t>
            </a:r>
            <a:endParaRPr b="1" sz="1250">
              <a:solidFill>
                <a:schemeClr val="dk1"/>
              </a:solidFill>
              <a:highlight>
                <a:srgbClr val="FFFFFF"/>
              </a:highlight>
            </a:endParaRPr>
          </a:p>
          <a:p>
            <a:pPr indent="-314325" lvl="0" marL="457200" rtl="0" algn="just">
              <a:lnSpc>
                <a:spcPct val="200000"/>
              </a:lnSpc>
              <a:spcBef>
                <a:spcPts val="1100"/>
              </a:spcBef>
              <a:spcAft>
                <a:spcPts val="0"/>
              </a:spcAft>
              <a:buClr>
                <a:schemeClr val="dk1"/>
              </a:buClr>
              <a:buSzPts val="1350"/>
              <a:buChar char="●"/>
            </a:pPr>
            <a:r>
              <a:rPr lang="en-IN" sz="1350">
                <a:solidFill>
                  <a:schemeClr val="dk1"/>
                </a:solidFill>
                <a:highlight>
                  <a:srgbClr val="FFFFFF"/>
                </a:highlight>
              </a:rPr>
              <a:t>Price is positively correlated with RAM.</a:t>
            </a:r>
            <a:endParaRPr sz="1350">
              <a:solidFill>
                <a:schemeClr val="dk1"/>
              </a:solidFill>
              <a:highlight>
                <a:srgbClr val="FFFFFF"/>
              </a:highlight>
            </a:endParaRPr>
          </a:p>
          <a:p>
            <a:pPr indent="-314325" lvl="0" marL="457200" rtl="0" algn="just">
              <a:lnSpc>
                <a:spcPct val="200000"/>
              </a:lnSpc>
              <a:spcBef>
                <a:spcPts val="0"/>
              </a:spcBef>
              <a:spcAft>
                <a:spcPts val="0"/>
              </a:spcAft>
              <a:buClr>
                <a:schemeClr val="dk1"/>
              </a:buClr>
              <a:buSzPts val="1350"/>
              <a:buChar char="●"/>
            </a:pPr>
            <a:r>
              <a:rPr lang="en-IN" sz="1350">
                <a:solidFill>
                  <a:schemeClr val="dk1"/>
                </a:solidFill>
                <a:highlight>
                  <a:srgbClr val="FFFFFF"/>
                </a:highlight>
              </a:rPr>
              <a:t>Price is positively correlated with Storage Capacity.</a:t>
            </a:r>
            <a:endParaRPr sz="1350">
              <a:solidFill>
                <a:schemeClr val="dk1"/>
              </a:solidFill>
              <a:highlight>
                <a:srgbClr val="FFFFFF"/>
              </a:highlight>
            </a:endParaRPr>
          </a:p>
          <a:p>
            <a:pPr indent="-314325" lvl="0" marL="457200" rtl="0" algn="just">
              <a:lnSpc>
                <a:spcPct val="200000"/>
              </a:lnSpc>
              <a:spcBef>
                <a:spcPts val="0"/>
              </a:spcBef>
              <a:spcAft>
                <a:spcPts val="0"/>
              </a:spcAft>
              <a:buClr>
                <a:schemeClr val="dk1"/>
              </a:buClr>
              <a:buSzPts val="1350"/>
              <a:buChar char="●"/>
            </a:pPr>
            <a:r>
              <a:rPr lang="en-IN" sz="1350">
                <a:solidFill>
                  <a:schemeClr val="dk1"/>
                </a:solidFill>
                <a:highlight>
                  <a:srgbClr val="FFFFFF"/>
                </a:highlight>
              </a:rPr>
              <a:t>Ratings Count and Reviews Count are usually highly correlated.</a:t>
            </a:r>
            <a:endParaRPr sz="1350">
              <a:solidFill>
                <a:schemeClr val="dk1"/>
              </a:solidFill>
              <a:highlight>
                <a:srgbClr val="FFFFFF"/>
              </a:highlight>
            </a:endParaRPr>
          </a:p>
          <a:p>
            <a:pPr indent="-314325" lvl="0" marL="457200" rtl="0" algn="just">
              <a:lnSpc>
                <a:spcPct val="200000"/>
              </a:lnSpc>
              <a:spcBef>
                <a:spcPts val="0"/>
              </a:spcBef>
              <a:spcAft>
                <a:spcPts val="0"/>
              </a:spcAft>
              <a:buClr>
                <a:schemeClr val="dk1"/>
              </a:buClr>
              <a:buSzPts val="1350"/>
              <a:buChar char="●"/>
            </a:pPr>
            <a:r>
              <a:rPr lang="en-IN" sz="1350">
                <a:solidFill>
                  <a:schemeClr val="dk1"/>
                </a:solidFill>
                <a:highlight>
                  <a:srgbClr val="FFFFFF"/>
                </a:highlight>
              </a:rPr>
              <a:t>Discount Percentage may show a negative relationship with Price.</a:t>
            </a:r>
            <a:endParaRPr sz="1350">
              <a:solidFill>
                <a:schemeClr val="dk1"/>
              </a:solidFill>
              <a:highlight>
                <a:srgbClr val="FFFFFF"/>
              </a:highlight>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marR="0" rtl="0" algn="l">
              <a:lnSpc>
                <a:spcPct val="80000"/>
              </a:lnSpc>
              <a:spcBef>
                <a:spcPts val="1200"/>
              </a:spcBef>
              <a:spcAft>
                <a:spcPts val="0"/>
              </a:spcAft>
              <a:buClr>
                <a:srgbClr val="FF0000"/>
              </a:buClr>
              <a:buSzPts val="3200"/>
              <a:buFont typeface="Lato Black"/>
              <a:buNone/>
            </a:pPr>
            <a:r>
              <a:t/>
            </a:r>
            <a:endParaRPr sz="1800">
              <a:solidFill>
                <a:srgbClr val="FF0000"/>
              </a:solidFill>
              <a:latin typeface="Calibri"/>
              <a:ea typeface="Calibri"/>
              <a:cs typeface="Calibri"/>
              <a:sym typeface="Calibri"/>
            </a:endParaRPr>
          </a:p>
        </p:txBody>
      </p:sp>
      <p:sp>
        <p:nvSpPr>
          <p:cNvPr id="226" name="Google Shape;226;p28"/>
          <p:cNvSpPr txBox="1"/>
          <p:nvPr/>
        </p:nvSpPr>
        <p:spPr>
          <a:xfrm>
            <a:off x="5402875" y="1668475"/>
            <a:ext cx="6627300" cy="76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b="1" sz="1300">
              <a:solidFill>
                <a:schemeClr val="dk1"/>
              </a:solidFill>
            </a:endParaRPr>
          </a:p>
          <a:p>
            <a:pPr indent="0" lvl="0" marL="0" rtl="0" algn="l">
              <a:lnSpc>
                <a:spcPct val="115000"/>
              </a:lnSpc>
              <a:spcBef>
                <a:spcPts val="1200"/>
              </a:spcBef>
              <a:spcAft>
                <a:spcPts val="1200"/>
              </a:spcAft>
              <a:buNone/>
            </a:pPr>
            <a:r>
              <a:t/>
            </a:r>
            <a:endParaRPr b="1" sz="1300">
              <a:solidFill>
                <a:schemeClr val="dk1"/>
              </a:solidFill>
            </a:endParaRPr>
          </a:p>
        </p:txBody>
      </p:sp>
      <p:sp>
        <p:nvSpPr>
          <p:cNvPr id="227" name="Google Shape;227;p28"/>
          <p:cNvSpPr txBox="1"/>
          <p:nvPr/>
        </p:nvSpPr>
        <p:spPr>
          <a:xfrm>
            <a:off x="356525" y="1342250"/>
            <a:ext cx="230700" cy="53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pic>
        <p:nvPicPr>
          <p:cNvPr id="228" name="Google Shape;228;p28" title="EDA18.png"/>
          <p:cNvPicPr preferRelativeResize="0"/>
          <p:nvPr/>
        </p:nvPicPr>
        <p:blipFill>
          <a:blip r:embed="rId3">
            <a:alphaModFix/>
          </a:blip>
          <a:stretch>
            <a:fillRect/>
          </a:stretch>
        </p:blipFill>
        <p:spPr>
          <a:xfrm>
            <a:off x="6113500" y="251675"/>
            <a:ext cx="5777876" cy="57254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25"/>
                                        </p:tgtEl>
                                        <p:attrNameLst>
                                          <p:attrName>style.visibility</p:attrName>
                                        </p:attrNameLst>
                                      </p:cBhvr>
                                      <p:to>
                                        <p:strVal val="visible"/>
                                      </p:to>
                                    </p:set>
                                    <p:animEffect filter="fade" transition="in">
                                      <p:cBhvr>
                                        <p:cTn dur="500"/>
                                        <p:tgtEl>
                                          <p:spTgt spid="2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9"/>
          <p:cNvSpPr txBox="1"/>
          <p:nvPr/>
        </p:nvSpPr>
        <p:spPr>
          <a:xfrm>
            <a:off x="737812" y="1299172"/>
            <a:ext cx="7007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p:txBody>
      </p:sp>
      <p:sp>
        <p:nvSpPr>
          <p:cNvPr id="234" name="Google Shape;234;p29"/>
          <p:cNvSpPr txBox="1"/>
          <p:nvPr/>
        </p:nvSpPr>
        <p:spPr>
          <a:xfrm>
            <a:off x="406675" y="374600"/>
            <a:ext cx="11337900" cy="109638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400"/>
              </a:spcBef>
              <a:spcAft>
                <a:spcPts val="0"/>
              </a:spcAft>
              <a:buClr>
                <a:schemeClr val="dk1"/>
              </a:buClr>
              <a:buSzPts val="1100"/>
              <a:buFont typeface="Arial"/>
              <a:buNone/>
            </a:pPr>
            <a:r>
              <a:rPr b="1" lang="en-IN" sz="2600">
                <a:solidFill>
                  <a:srgbClr val="FF0000"/>
                </a:solidFill>
              </a:rPr>
              <a:t>Key Business Questions</a:t>
            </a:r>
            <a:endParaRPr b="1" sz="2600">
              <a:solidFill>
                <a:srgbClr val="FF0000"/>
              </a:solidFill>
            </a:endParaRPr>
          </a:p>
          <a:p>
            <a:pPr indent="-311150" lvl="0" marL="457200" rtl="0" algn="l">
              <a:lnSpc>
                <a:spcPct val="150000"/>
              </a:lnSpc>
              <a:spcBef>
                <a:spcPts val="1400"/>
              </a:spcBef>
              <a:spcAft>
                <a:spcPts val="0"/>
              </a:spcAft>
              <a:buClr>
                <a:schemeClr val="dk1"/>
              </a:buClr>
              <a:buSzPts val="1300"/>
              <a:buChar char="●"/>
            </a:pPr>
            <a:r>
              <a:rPr b="1" lang="en-IN" sz="1300">
                <a:solidFill>
                  <a:schemeClr val="dk1"/>
                </a:solidFill>
              </a:rPr>
              <a:t>Which brands are most expensive ?</a:t>
            </a:r>
            <a:endParaRPr b="1" sz="1300">
              <a:solidFill>
                <a:schemeClr val="dk1"/>
              </a:solidFill>
            </a:endParaRPr>
          </a:p>
          <a:p>
            <a:pPr indent="-311150" lvl="0" marL="457200" rtl="0" algn="l">
              <a:lnSpc>
                <a:spcPct val="150000"/>
              </a:lnSpc>
              <a:spcBef>
                <a:spcPts val="0"/>
              </a:spcBef>
              <a:spcAft>
                <a:spcPts val="0"/>
              </a:spcAft>
              <a:buClr>
                <a:schemeClr val="dk1"/>
              </a:buClr>
              <a:buSzPts val="1300"/>
              <a:buChar char="●"/>
            </a:pPr>
            <a:r>
              <a:rPr b="1" lang="en-IN" sz="1300">
                <a:solidFill>
                  <a:schemeClr val="dk1"/>
                </a:solidFill>
              </a:rPr>
              <a:t>How does RAM impact Price ?</a:t>
            </a:r>
            <a:endParaRPr b="1" sz="1300">
              <a:solidFill>
                <a:schemeClr val="dk1"/>
              </a:solidFill>
            </a:endParaRPr>
          </a:p>
          <a:p>
            <a:pPr indent="-311150" lvl="0" marL="457200" rtl="0" algn="l">
              <a:lnSpc>
                <a:spcPct val="150000"/>
              </a:lnSpc>
              <a:spcBef>
                <a:spcPts val="0"/>
              </a:spcBef>
              <a:spcAft>
                <a:spcPts val="0"/>
              </a:spcAft>
              <a:buClr>
                <a:schemeClr val="dk1"/>
              </a:buClr>
              <a:buSzPts val="1300"/>
              <a:buChar char="●"/>
            </a:pPr>
            <a:r>
              <a:rPr b="1" lang="en-IN" sz="1300">
                <a:solidFill>
                  <a:schemeClr val="dk1"/>
                </a:solidFill>
              </a:rPr>
              <a:t>How do ratings and reviews relate to price ?</a:t>
            </a:r>
            <a:endParaRPr b="1" sz="1300">
              <a:solidFill>
                <a:schemeClr val="dk1"/>
              </a:solidFill>
            </a:endParaRPr>
          </a:p>
          <a:p>
            <a:pPr indent="-311150" lvl="0" marL="457200" rtl="0" algn="l">
              <a:lnSpc>
                <a:spcPct val="150000"/>
              </a:lnSpc>
              <a:spcBef>
                <a:spcPts val="0"/>
              </a:spcBef>
              <a:spcAft>
                <a:spcPts val="0"/>
              </a:spcAft>
              <a:buClr>
                <a:schemeClr val="dk1"/>
              </a:buClr>
              <a:buSzPts val="1300"/>
              <a:buChar char="●"/>
            </a:pPr>
            <a:r>
              <a:rPr b="1" lang="en-IN" sz="1300">
                <a:solidFill>
                  <a:schemeClr val="dk1"/>
                </a:solidFill>
              </a:rPr>
              <a:t>Which Configurations provide best value ?</a:t>
            </a:r>
            <a:endParaRPr b="1" sz="1300">
              <a:solidFill>
                <a:schemeClr val="dk1"/>
              </a:solidFill>
            </a:endParaRPr>
          </a:p>
          <a:p>
            <a:pPr indent="0" lvl="0" marL="457200" rtl="0" algn="l">
              <a:lnSpc>
                <a:spcPct val="115000"/>
              </a:lnSpc>
              <a:spcBef>
                <a:spcPts val="1400"/>
              </a:spcBef>
              <a:spcAft>
                <a:spcPts val="0"/>
              </a:spcAft>
              <a:buNone/>
            </a:pPr>
            <a:r>
              <a:t/>
            </a:r>
            <a:endParaRPr b="1" sz="1300">
              <a:solidFill>
                <a:schemeClr val="dk1"/>
              </a:solidFill>
            </a:endParaRPr>
          </a:p>
          <a:p>
            <a:pPr indent="0" lvl="0" marL="0" rtl="0" algn="l">
              <a:spcBef>
                <a:spcPts val="800"/>
              </a:spcBef>
              <a:spcAft>
                <a:spcPts val="0"/>
              </a:spcAft>
              <a:buNone/>
            </a:pPr>
            <a:r>
              <a:rPr b="1" lang="en-IN" sz="2450">
                <a:solidFill>
                  <a:srgbClr val="FF0000"/>
                </a:solidFill>
                <a:highlight>
                  <a:srgbClr val="FFFFFF"/>
                </a:highlight>
              </a:rPr>
              <a:t>Business Insights for Final Report</a:t>
            </a:r>
            <a:endParaRPr b="1" sz="2450">
              <a:solidFill>
                <a:srgbClr val="FF0000"/>
              </a:solidFill>
              <a:highlight>
                <a:srgbClr val="FFFFFF"/>
              </a:highlight>
            </a:endParaRPr>
          </a:p>
          <a:p>
            <a:pPr indent="-301625" lvl="0" marL="457200" rtl="0" algn="l">
              <a:lnSpc>
                <a:spcPct val="200000"/>
              </a:lnSpc>
              <a:spcBef>
                <a:spcPts val="1100"/>
              </a:spcBef>
              <a:spcAft>
                <a:spcPts val="0"/>
              </a:spcAft>
              <a:buClr>
                <a:schemeClr val="dk1"/>
              </a:buClr>
              <a:buSzPts val="1150"/>
              <a:buAutoNum type="arabicPeriod"/>
            </a:pPr>
            <a:r>
              <a:rPr b="1" lang="en-IN" sz="1150">
                <a:solidFill>
                  <a:schemeClr val="dk1"/>
                </a:solidFill>
                <a:highlight>
                  <a:srgbClr val="FFFFFF"/>
                </a:highlight>
              </a:rPr>
              <a:t>Most laptops sold on Flipkart fall within the mid-range price segment.</a:t>
            </a:r>
            <a:endParaRPr b="1" sz="1150">
              <a:solidFill>
                <a:schemeClr val="dk1"/>
              </a:solidFill>
              <a:highlight>
                <a:srgbClr val="FFFFFF"/>
              </a:highlight>
            </a:endParaRPr>
          </a:p>
          <a:p>
            <a:pPr indent="-301625" lvl="0" marL="457200" rtl="0" algn="l">
              <a:lnSpc>
                <a:spcPct val="200000"/>
              </a:lnSpc>
              <a:spcBef>
                <a:spcPts val="0"/>
              </a:spcBef>
              <a:spcAft>
                <a:spcPts val="0"/>
              </a:spcAft>
              <a:buClr>
                <a:schemeClr val="dk1"/>
              </a:buClr>
              <a:buSzPts val="1150"/>
              <a:buAutoNum type="arabicPeriod"/>
            </a:pPr>
            <a:r>
              <a:rPr b="1" lang="en-IN" sz="1150">
                <a:solidFill>
                  <a:schemeClr val="dk1"/>
                </a:solidFill>
                <a:highlight>
                  <a:srgbClr val="FFFFFF"/>
                </a:highlight>
              </a:rPr>
              <a:t>8 GB RAM and 512 GB SSD are the most common configurations.</a:t>
            </a:r>
            <a:endParaRPr b="1" sz="1150">
              <a:solidFill>
                <a:schemeClr val="dk1"/>
              </a:solidFill>
              <a:highlight>
                <a:srgbClr val="FFFFFF"/>
              </a:highlight>
            </a:endParaRPr>
          </a:p>
          <a:p>
            <a:pPr indent="-301625" lvl="0" marL="457200" rtl="0" algn="l">
              <a:lnSpc>
                <a:spcPct val="200000"/>
              </a:lnSpc>
              <a:spcBef>
                <a:spcPts val="0"/>
              </a:spcBef>
              <a:spcAft>
                <a:spcPts val="0"/>
              </a:spcAft>
              <a:buClr>
                <a:schemeClr val="dk1"/>
              </a:buClr>
              <a:buSzPts val="1150"/>
              <a:buAutoNum type="arabicPeriod"/>
            </a:pPr>
            <a:r>
              <a:rPr b="1" lang="en-IN" sz="1150">
                <a:solidFill>
                  <a:schemeClr val="dk1"/>
                </a:solidFill>
                <a:highlight>
                  <a:srgbClr val="FFFFFF"/>
                </a:highlight>
              </a:rPr>
              <a:t>Higher RAM and storage capacities significantly increase laptop prices.</a:t>
            </a:r>
            <a:endParaRPr b="1" sz="1150">
              <a:solidFill>
                <a:schemeClr val="dk1"/>
              </a:solidFill>
              <a:highlight>
                <a:srgbClr val="FFFFFF"/>
              </a:highlight>
            </a:endParaRPr>
          </a:p>
          <a:p>
            <a:pPr indent="-301625" lvl="0" marL="457200" rtl="0" algn="l">
              <a:lnSpc>
                <a:spcPct val="200000"/>
              </a:lnSpc>
              <a:spcBef>
                <a:spcPts val="0"/>
              </a:spcBef>
              <a:spcAft>
                <a:spcPts val="0"/>
              </a:spcAft>
              <a:buClr>
                <a:schemeClr val="dk1"/>
              </a:buClr>
              <a:buSzPts val="1150"/>
              <a:buAutoNum type="arabicPeriod"/>
            </a:pPr>
            <a:r>
              <a:rPr b="1" lang="en-IN" sz="1150">
                <a:solidFill>
                  <a:schemeClr val="dk1"/>
                </a:solidFill>
                <a:highlight>
                  <a:srgbClr val="FFFFFF"/>
                </a:highlight>
              </a:rPr>
              <a:t>Windows 11 dominates the laptop market.</a:t>
            </a:r>
            <a:endParaRPr b="1" sz="1150">
              <a:solidFill>
                <a:schemeClr val="dk1"/>
              </a:solidFill>
              <a:highlight>
                <a:srgbClr val="FFFFFF"/>
              </a:highlight>
            </a:endParaRPr>
          </a:p>
          <a:p>
            <a:pPr indent="-301625" lvl="0" marL="457200" rtl="0" algn="l">
              <a:lnSpc>
                <a:spcPct val="200000"/>
              </a:lnSpc>
              <a:spcBef>
                <a:spcPts val="0"/>
              </a:spcBef>
              <a:spcAft>
                <a:spcPts val="0"/>
              </a:spcAft>
              <a:buClr>
                <a:schemeClr val="dk1"/>
              </a:buClr>
              <a:buSzPts val="1150"/>
              <a:buAutoNum type="arabicPeriod"/>
            </a:pPr>
            <a:r>
              <a:rPr b="1" lang="en-IN" sz="1150">
                <a:solidFill>
                  <a:schemeClr val="dk1"/>
                </a:solidFill>
                <a:highlight>
                  <a:srgbClr val="FFFFFF"/>
                </a:highlight>
              </a:rPr>
              <a:t>SSD storage is preferred over HDD storage.</a:t>
            </a:r>
            <a:endParaRPr b="1" sz="1150">
              <a:solidFill>
                <a:schemeClr val="dk1"/>
              </a:solidFill>
              <a:highlight>
                <a:srgbClr val="FFFFFF"/>
              </a:highlight>
            </a:endParaRPr>
          </a:p>
          <a:p>
            <a:pPr indent="-301625" lvl="0" marL="457200" rtl="0" algn="l">
              <a:lnSpc>
                <a:spcPct val="200000"/>
              </a:lnSpc>
              <a:spcBef>
                <a:spcPts val="0"/>
              </a:spcBef>
              <a:spcAft>
                <a:spcPts val="0"/>
              </a:spcAft>
              <a:buClr>
                <a:schemeClr val="dk1"/>
              </a:buClr>
              <a:buSzPts val="1150"/>
              <a:buAutoNum type="arabicPeriod"/>
            </a:pPr>
            <a:r>
              <a:rPr b="1" lang="en-IN" sz="1150">
                <a:solidFill>
                  <a:schemeClr val="dk1"/>
                </a:solidFill>
                <a:highlight>
                  <a:srgbClr val="FFFFFF"/>
                </a:highlight>
              </a:rPr>
              <a:t>Premium brands generally command higher prices.</a:t>
            </a:r>
            <a:endParaRPr b="1" sz="1150">
              <a:solidFill>
                <a:schemeClr val="dk1"/>
              </a:solidFill>
              <a:highlight>
                <a:srgbClr val="FFFFFF"/>
              </a:highlight>
            </a:endParaRPr>
          </a:p>
          <a:p>
            <a:pPr indent="-301625" lvl="0" marL="457200" rtl="0" algn="l">
              <a:lnSpc>
                <a:spcPct val="200000"/>
              </a:lnSpc>
              <a:spcBef>
                <a:spcPts val="0"/>
              </a:spcBef>
              <a:spcAft>
                <a:spcPts val="0"/>
              </a:spcAft>
              <a:buClr>
                <a:schemeClr val="dk1"/>
              </a:buClr>
              <a:buSzPts val="1150"/>
              <a:buAutoNum type="arabicPeriod"/>
            </a:pPr>
            <a:r>
              <a:rPr b="1" lang="en-IN" sz="1150">
                <a:solidFill>
                  <a:schemeClr val="dk1"/>
                </a:solidFill>
                <a:highlight>
                  <a:srgbClr val="FFFFFF"/>
                </a:highlight>
              </a:rPr>
              <a:t>Customer ratings have limited impact on pricing.</a:t>
            </a:r>
            <a:endParaRPr b="1" sz="1150">
              <a:solidFill>
                <a:schemeClr val="dk1"/>
              </a:solidFill>
              <a:highlight>
                <a:srgbClr val="FFFFFF"/>
              </a:highlight>
            </a:endParaRPr>
          </a:p>
          <a:p>
            <a:pPr indent="-301625" lvl="0" marL="457200" rtl="0" algn="l">
              <a:lnSpc>
                <a:spcPct val="200000"/>
              </a:lnSpc>
              <a:spcBef>
                <a:spcPts val="0"/>
              </a:spcBef>
              <a:spcAft>
                <a:spcPts val="0"/>
              </a:spcAft>
              <a:buClr>
                <a:schemeClr val="dk1"/>
              </a:buClr>
              <a:buSzPts val="1150"/>
              <a:buAutoNum type="arabicPeriod"/>
            </a:pPr>
            <a:r>
              <a:rPr b="1" lang="en-IN" sz="1150">
                <a:solidFill>
                  <a:schemeClr val="dk1"/>
                </a:solidFill>
                <a:highlight>
                  <a:srgbClr val="FFFFFF"/>
                </a:highlight>
              </a:rPr>
              <a:t>Reviews Count and Ratings Count are strongly related, indicating that popular laptops attract more customer engagement.</a:t>
            </a:r>
            <a:endParaRPr b="1" sz="1150">
              <a:solidFill>
                <a:schemeClr val="dk1"/>
              </a:solidFill>
              <a:highlight>
                <a:srgbClr val="FFFFFF"/>
              </a:highlight>
            </a:endParaRPr>
          </a:p>
          <a:p>
            <a:pPr indent="0" lvl="0" marL="0" rtl="0" algn="l">
              <a:lnSpc>
                <a:spcPct val="150000"/>
              </a:lnSpc>
              <a:spcBef>
                <a:spcPts val="1400"/>
              </a:spcBef>
              <a:spcAft>
                <a:spcPts val="0"/>
              </a:spcAft>
              <a:buClr>
                <a:schemeClr val="dk1"/>
              </a:buClr>
              <a:buSzPts val="1100"/>
              <a:buFont typeface="Arial"/>
              <a:buNone/>
            </a:pPr>
            <a:r>
              <a:t/>
            </a:r>
            <a:endParaRPr b="1">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marR="0" rtl="0" algn="l">
              <a:lnSpc>
                <a:spcPct val="80000"/>
              </a:lnSpc>
              <a:spcBef>
                <a:spcPts val="1200"/>
              </a:spcBef>
              <a:spcAft>
                <a:spcPts val="0"/>
              </a:spcAft>
              <a:buClr>
                <a:srgbClr val="FF0000"/>
              </a:buClr>
              <a:buSzPts val="3200"/>
              <a:buFont typeface="Lato Black"/>
              <a:buNone/>
            </a:pPr>
            <a:r>
              <a:t/>
            </a:r>
            <a:endParaRPr sz="1800">
              <a:solidFill>
                <a:srgbClr val="FF0000"/>
              </a:solidFill>
              <a:latin typeface="Calibri"/>
              <a:ea typeface="Calibri"/>
              <a:cs typeface="Calibri"/>
              <a:sym typeface="Calibri"/>
            </a:endParaRPr>
          </a:p>
        </p:txBody>
      </p:sp>
      <p:sp>
        <p:nvSpPr>
          <p:cNvPr id="235" name="Google Shape;235;p29"/>
          <p:cNvSpPr txBox="1"/>
          <p:nvPr/>
        </p:nvSpPr>
        <p:spPr>
          <a:xfrm>
            <a:off x="5402875" y="1668475"/>
            <a:ext cx="6627300" cy="76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b="1" sz="1300">
              <a:solidFill>
                <a:schemeClr val="dk1"/>
              </a:solidFill>
            </a:endParaRPr>
          </a:p>
          <a:p>
            <a:pPr indent="0" lvl="0" marL="0" rtl="0" algn="l">
              <a:lnSpc>
                <a:spcPct val="115000"/>
              </a:lnSpc>
              <a:spcBef>
                <a:spcPts val="1200"/>
              </a:spcBef>
              <a:spcAft>
                <a:spcPts val="1200"/>
              </a:spcAft>
              <a:buNone/>
            </a:pPr>
            <a:r>
              <a:t/>
            </a:r>
            <a:endParaRPr b="1" sz="1300">
              <a:solidFill>
                <a:schemeClr val="dk1"/>
              </a:solidFill>
            </a:endParaRPr>
          </a:p>
        </p:txBody>
      </p:sp>
      <p:sp>
        <p:nvSpPr>
          <p:cNvPr id="236" name="Google Shape;236;p29"/>
          <p:cNvSpPr txBox="1"/>
          <p:nvPr/>
        </p:nvSpPr>
        <p:spPr>
          <a:xfrm>
            <a:off x="356525" y="1342250"/>
            <a:ext cx="230700" cy="53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34"/>
                                        </p:tgtEl>
                                        <p:attrNameLst>
                                          <p:attrName>style.visibility</p:attrName>
                                        </p:attrNameLst>
                                      </p:cBhvr>
                                      <p:to>
                                        <p:strVal val="visible"/>
                                      </p:to>
                                    </p:set>
                                    <p:animEffect filter="fade" transition="in">
                                      <p:cBhvr>
                                        <p:cTn dur="500"/>
                                        <p:tgtEl>
                                          <p:spTgt spid="2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0"/>
          <p:cNvSpPr txBox="1"/>
          <p:nvPr/>
        </p:nvSpPr>
        <p:spPr>
          <a:xfrm>
            <a:off x="737812" y="1299172"/>
            <a:ext cx="7007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p:txBody>
      </p:sp>
      <p:sp>
        <p:nvSpPr>
          <p:cNvPr id="242" name="Google Shape;242;p30"/>
          <p:cNvSpPr txBox="1"/>
          <p:nvPr/>
        </p:nvSpPr>
        <p:spPr>
          <a:xfrm>
            <a:off x="406675" y="374600"/>
            <a:ext cx="11337900" cy="110286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None/>
            </a:pPr>
            <a:r>
              <a:rPr b="1" lang="en-IN" sz="2600">
                <a:solidFill>
                  <a:srgbClr val="FF0000"/>
                </a:solidFill>
              </a:rPr>
              <a:t>Conclusion</a:t>
            </a:r>
            <a:endParaRPr b="1" sz="2600">
              <a:solidFill>
                <a:srgbClr val="FF0000"/>
              </a:solidFill>
            </a:endParaRPr>
          </a:p>
          <a:p>
            <a:pPr indent="-342900" lvl="0" marL="457200" rtl="0" algn="l">
              <a:lnSpc>
                <a:spcPct val="200000"/>
              </a:lnSpc>
              <a:spcBef>
                <a:spcPts val="1200"/>
              </a:spcBef>
              <a:spcAft>
                <a:spcPts val="0"/>
              </a:spcAft>
              <a:buClr>
                <a:schemeClr val="dk1"/>
              </a:buClr>
              <a:buSzPts val="1800"/>
              <a:buChar char="●"/>
            </a:pPr>
            <a:r>
              <a:rPr lang="en-IN" sz="1800">
                <a:solidFill>
                  <a:schemeClr val="dk1"/>
                </a:solidFill>
              </a:rPr>
              <a:t>Successfully scraped and analyzed </a:t>
            </a:r>
            <a:r>
              <a:rPr b="1" lang="en-IN" sz="1800">
                <a:solidFill>
                  <a:schemeClr val="dk1"/>
                </a:solidFill>
              </a:rPr>
              <a:t>500+ laptop records</a:t>
            </a:r>
            <a:r>
              <a:rPr lang="en-IN" sz="1800">
                <a:solidFill>
                  <a:schemeClr val="dk1"/>
                </a:solidFill>
              </a:rPr>
              <a:t> from Flipkart using Python and BeautifulSoup.</a:t>
            </a:r>
            <a:endParaRPr sz="1800">
              <a:solidFill>
                <a:schemeClr val="dk1"/>
              </a:solidFill>
            </a:endParaRPr>
          </a:p>
          <a:p>
            <a:pPr indent="-342900" lvl="0" marL="457200" rtl="0" algn="l">
              <a:lnSpc>
                <a:spcPct val="200000"/>
              </a:lnSpc>
              <a:spcBef>
                <a:spcPts val="0"/>
              </a:spcBef>
              <a:spcAft>
                <a:spcPts val="0"/>
              </a:spcAft>
              <a:buClr>
                <a:schemeClr val="dk1"/>
              </a:buClr>
              <a:buSzPts val="1800"/>
              <a:buChar char="●"/>
            </a:pPr>
            <a:r>
              <a:rPr lang="en-IN" sz="1800">
                <a:solidFill>
                  <a:schemeClr val="dk1"/>
                </a:solidFill>
              </a:rPr>
              <a:t>Performed data cleaning, preprocessing, and exploratory data analysis to identify the key factors influencing laptop prices.</a:t>
            </a:r>
            <a:endParaRPr sz="1800">
              <a:solidFill>
                <a:schemeClr val="dk1"/>
              </a:solidFill>
            </a:endParaRPr>
          </a:p>
          <a:p>
            <a:pPr indent="-342900" lvl="0" marL="457200" rtl="0" algn="l">
              <a:lnSpc>
                <a:spcPct val="200000"/>
              </a:lnSpc>
              <a:spcBef>
                <a:spcPts val="0"/>
              </a:spcBef>
              <a:spcAft>
                <a:spcPts val="0"/>
              </a:spcAft>
              <a:buClr>
                <a:schemeClr val="dk1"/>
              </a:buClr>
              <a:buSzPts val="1800"/>
              <a:buChar char="●"/>
            </a:pPr>
            <a:r>
              <a:rPr lang="en-IN" sz="1800">
                <a:solidFill>
                  <a:schemeClr val="dk1"/>
                </a:solidFill>
              </a:rPr>
              <a:t>The analysis showed that </a:t>
            </a:r>
            <a:r>
              <a:rPr b="1" lang="en-IN" sz="1800">
                <a:solidFill>
                  <a:schemeClr val="dk1"/>
                </a:solidFill>
              </a:rPr>
              <a:t>brand, processor type, RAM, storage capacity, and discount percentage</a:t>
            </a:r>
            <a:r>
              <a:rPr lang="en-IN" sz="1800">
                <a:solidFill>
                  <a:schemeClr val="dk1"/>
                </a:solidFill>
              </a:rPr>
              <a:t> have a significant impact on laptop pricing.</a:t>
            </a:r>
            <a:endParaRPr sz="1800">
              <a:solidFill>
                <a:schemeClr val="dk1"/>
              </a:solidFill>
            </a:endParaRPr>
          </a:p>
          <a:p>
            <a:pPr indent="-342900" lvl="0" marL="457200" rtl="0" algn="l">
              <a:lnSpc>
                <a:spcPct val="200000"/>
              </a:lnSpc>
              <a:spcBef>
                <a:spcPts val="0"/>
              </a:spcBef>
              <a:spcAft>
                <a:spcPts val="0"/>
              </a:spcAft>
              <a:buClr>
                <a:schemeClr val="dk1"/>
              </a:buClr>
              <a:buSzPts val="1800"/>
              <a:buChar char="●"/>
            </a:pPr>
            <a:r>
              <a:rPr lang="en-IN" sz="1800">
                <a:solidFill>
                  <a:schemeClr val="dk1"/>
                </a:solidFill>
              </a:rPr>
              <a:t>The insights from this project can help customers make informed purchasing decisions and support businesses in developing effective pricing and product strategies.</a:t>
            </a:r>
            <a:endParaRPr sz="1800">
              <a:solidFill>
                <a:schemeClr val="dk1"/>
              </a:solidFill>
            </a:endParaRPr>
          </a:p>
          <a:p>
            <a:pPr indent="0" lvl="0" marL="457200" rtl="0" algn="l">
              <a:lnSpc>
                <a:spcPct val="150000"/>
              </a:lnSpc>
              <a:spcBef>
                <a:spcPts val="1400"/>
              </a:spcBef>
              <a:spcAft>
                <a:spcPts val="0"/>
              </a:spcAft>
              <a:buNone/>
            </a:pPr>
            <a:r>
              <a:t/>
            </a:r>
            <a:endParaRPr b="1" sz="2600">
              <a:solidFill>
                <a:srgbClr val="FF0000"/>
              </a:solidFill>
            </a:endParaRPr>
          </a:p>
          <a:p>
            <a:pPr indent="0" lvl="0" marL="0" rtl="0" algn="l">
              <a:lnSpc>
                <a:spcPct val="200000"/>
              </a:lnSpc>
              <a:spcBef>
                <a:spcPts val="1100"/>
              </a:spcBef>
              <a:spcAft>
                <a:spcPts val="0"/>
              </a:spcAft>
              <a:buNone/>
            </a:pPr>
            <a:r>
              <a:t/>
            </a:r>
            <a:endParaRPr b="1" sz="1150">
              <a:solidFill>
                <a:schemeClr val="dk1"/>
              </a:solidFill>
              <a:highlight>
                <a:srgbClr val="FFFFFF"/>
              </a:highlight>
            </a:endParaRPr>
          </a:p>
          <a:p>
            <a:pPr indent="0" lvl="0" marL="0" rtl="0" algn="l">
              <a:lnSpc>
                <a:spcPct val="150000"/>
              </a:lnSpc>
              <a:spcBef>
                <a:spcPts val="1400"/>
              </a:spcBef>
              <a:spcAft>
                <a:spcPts val="0"/>
              </a:spcAft>
              <a:buClr>
                <a:schemeClr val="dk1"/>
              </a:buClr>
              <a:buSzPts val="1100"/>
              <a:buFont typeface="Arial"/>
              <a:buNone/>
            </a:pPr>
            <a:r>
              <a:t/>
            </a:r>
            <a:endParaRPr b="1">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marR="0" rtl="0" algn="l">
              <a:lnSpc>
                <a:spcPct val="80000"/>
              </a:lnSpc>
              <a:spcBef>
                <a:spcPts val="1200"/>
              </a:spcBef>
              <a:spcAft>
                <a:spcPts val="0"/>
              </a:spcAft>
              <a:buClr>
                <a:srgbClr val="FF0000"/>
              </a:buClr>
              <a:buSzPts val="3200"/>
              <a:buFont typeface="Lato Black"/>
              <a:buNone/>
            </a:pPr>
            <a:r>
              <a:t/>
            </a:r>
            <a:endParaRPr sz="1800">
              <a:solidFill>
                <a:srgbClr val="FF0000"/>
              </a:solidFill>
              <a:latin typeface="Calibri"/>
              <a:ea typeface="Calibri"/>
              <a:cs typeface="Calibri"/>
              <a:sym typeface="Calibri"/>
            </a:endParaRPr>
          </a:p>
        </p:txBody>
      </p:sp>
      <p:sp>
        <p:nvSpPr>
          <p:cNvPr id="243" name="Google Shape;243;p30"/>
          <p:cNvSpPr txBox="1"/>
          <p:nvPr/>
        </p:nvSpPr>
        <p:spPr>
          <a:xfrm>
            <a:off x="5402875" y="1668475"/>
            <a:ext cx="6627300" cy="76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b="1" sz="1300">
              <a:solidFill>
                <a:schemeClr val="dk1"/>
              </a:solidFill>
            </a:endParaRPr>
          </a:p>
          <a:p>
            <a:pPr indent="0" lvl="0" marL="0" rtl="0" algn="l">
              <a:lnSpc>
                <a:spcPct val="115000"/>
              </a:lnSpc>
              <a:spcBef>
                <a:spcPts val="1200"/>
              </a:spcBef>
              <a:spcAft>
                <a:spcPts val="1200"/>
              </a:spcAft>
              <a:buNone/>
            </a:pPr>
            <a:r>
              <a:t/>
            </a:r>
            <a:endParaRPr b="1" sz="1300">
              <a:solidFill>
                <a:schemeClr val="dk1"/>
              </a:solidFill>
            </a:endParaRPr>
          </a:p>
        </p:txBody>
      </p:sp>
      <p:sp>
        <p:nvSpPr>
          <p:cNvPr id="244" name="Google Shape;244;p30"/>
          <p:cNvSpPr txBox="1"/>
          <p:nvPr/>
        </p:nvSpPr>
        <p:spPr>
          <a:xfrm>
            <a:off x="356525" y="1342250"/>
            <a:ext cx="230700" cy="53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500"/>
                                        <p:tgtEl>
                                          <p:spTgt spid="2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pic>
        <p:nvPicPr>
          <p:cNvPr id="249" name="Google Shape;249;p31"/>
          <p:cNvPicPr preferRelativeResize="0"/>
          <p:nvPr/>
        </p:nvPicPr>
        <p:blipFill rotWithShape="1">
          <a:blip r:embed="rId3">
            <a:alphaModFix/>
          </a:blip>
          <a:srcRect b="0" l="0" r="0" t="0"/>
          <a:stretch/>
        </p:blipFill>
        <p:spPr>
          <a:xfrm>
            <a:off x="6466516" y="1850749"/>
            <a:ext cx="4465643" cy="2834317"/>
          </a:xfrm>
          <a:prstGeom prst="rect">
            <a:avLst/>
          </a:prstGeom>
          <a:noFill/>
          <a:ln>
            <a:noFill/>
          </a:ln>
        </p:spPr>
      </p:pic>
      <p:sp>
        <p:nvSpPr>
          <p:cNvPr id="250" name="Google Shape;250;p31"/>
          <p:cNvSpPr txBox="1"/>
          <p:nvPr/>
        </p:nvSpPr>
        <p:spPr>
          <a:xfrm>
            <a:off x="1244600" y="2997200"/>
            <a:ext cx="3661836" cy="76944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00000"/>
              </a:buClr>
              <a:buSzPts val="4400"/>
              <a:buFont typeface="Libre Baskerville"/>
              <a:buNone/>
            </a:pPr>
            <a:r>
              <a:rPr b="0" i="0" lang="en-IN" sz="4400" u="none" cap="none" strike="noStrike">
                <a:solidFill>
                  <a:srgbClr val="C00000"/>
                </a:solidFill>
                <a:latin typeface="Libre Baskerville"/>
                <a:ea typeface="Libre Baskerville"/>
                <a:cs typeface="Libre Baskerville"/>
                <a:sym typeface="Libre Baskerville"/>
              </a:rPr>
              <a:t>THANK YOU</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